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5"/>
  </p:notesMasterIdLst>
  <p:sldIdLst>
    <p:sldId id="256" r:id="rId2"/>
    <p:sldId id="269" r:id="rId3"/>
    <p:sldId id="275" r:id="rId4"/>
    <p:sldId id="276" r:id="rId5"/>
    <p:sldId id="279" r:id="rId6"/>
    <p:sldId id="273" r:id="rId7"/>
    <p:sldId id="272" r:id="rId8"/>
    <p:sldId id="278" r:id="rId9"/>
    <p:sldId id="277" r:id="rId10"/>
    <p:sldId id="268" r:id="rId11"/>
    <p:sldId id="270" r:id="rId12"/>
    <p:sldId id="265" r:id="rId13"/>
    <p:sldId id="26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23" autoAdjust="0"/>
    <p:restoredTop sz="94660"/>
  </p:normalViewPr>
  <p:slideViewPr>
    <p:cSldViewPr snapToGrid="0">
      <p:cViewPr varScale="1">
        <p:scale>
          <a:sx n="73" d="100"/>
          <a:sy n="73" d="100"/>
        </p:scale>
        <p:origin x="67" y="17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8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8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8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8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8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8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8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804030504040204"/>
              <a:buNone/>
              <a:defRPr sz="2800" b="1" i="0" u="none" strike="noStrike" cap="none">
                <a:solidFill>
                  <a:srgbClr val="FF0000"/>
                </a:solidFill>
                <a:latin typeface="Verdana" panose="020B0804030504040204"/>
                <a:ea typeface="Verdana" panose="020B0804030504040204"/>
                <a:cs typeface="Verdana" panose="020B0804030504040204"/>
                <a:sym typeface="Verdana" panose="020B08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90204"/>
              <a:buChar char="•"/>
              <a:defRPr sz="24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1pPr>
            <a:lvl2pPr marL="914400" marR="0" lvl="1"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2pPr>
            <a:lvl3pPr marL="1371600" marR="0" lvl="2" indent="-342900" algn="l" rtl="0">
              <a:spcBef>
                <a:spcPts val="360"/>
              </a:spcBef>
              <a:spcAft>
                <a:spcPts val="0"/>
              </a:spcAft>
              <a:buClr>
                <a:schemeClr val="dk1"/>
              </a:buClr>
              <a:buSzPts val="1800"/>
              <a:buFont typeface="Arial" panose="020B0604020202090204"/>
              <a:buChar char="•"/>
              <a:defRPr sz="18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3pPr>
            <a:lvl4pPr marL="1828800" marR="0" lvl="3" indent="-330200" algn="l" rtl="0">
              <a:spcBef>
                <a:spcPts val="320"/>
              </a:spcBef>
              <a:spcAft>
                <a:spcPts val="0"/>
              </a:spcAft>
              <a:buClr>
                <a:schemeClr val="dk1"/>
              </a:buClr>
              <a:buSzPts val="1600"/>
              <a:buFont typeface="Arial" panose="020B0604020202090204"/>
              <a:buChar char="–"/>
              <a:defRPr sz="16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4pPr>
            <a:lvl5pPr marL="2286000" marR="0" lvl="4" indent="-330200" algn="l" rtl="0">
              <a:spcBef>
                <a:spcPts val="320"/>
              </a:spcBef>
              <a:spcAft>
                <a:spcPts val="0"/>
              </a:spcAft>
              <a:buClr>
                <a:schemeClr val="dk1"/>
              </a:buClr>
              <a:buSzPts val="1600"/>
              <a:buFont typeface="Arial" panose="020B0604020202090204"/>
              <a:buChar char="»"/>
              <a:defRPr sz="16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5pPr>
            <a:lvl6pPr marL="2743200" marR="0" lvl="5"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1pPr>
            <a:lvl2pPr marL="0" marR="0" lvl="1"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2pPr>
            <a:lvl3pPr marL="0" marR="0" lvl="2"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3pPr>
            <a:lvl4pPr marL="0" marR="0" lvl="3"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4pPr>
            <a:lvl5pPr marL="0" marR="0" lvl="4"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5pPr>
            <a:lvl6pPr marL="0" marR="0" lvl="5"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6pPr>
            <a:lvl7pPr marL="0" marR="0" lvl="6"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7pPr>
            <a:lvl8pPr marL="0" marR="0" lvl="7"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8pPr>
            <a:lvl9pPr marL="0" marR="0" lvl="8" indent="0" algn="r" rtl="0">
              <a:spcBef>
                <a:spcPts val="0"/>
              </a:spcBef>
              <a:buNone/>
              <a:defRPr sz="1200" b="0" i="0" u="none" strike="noStrike" cap="none">
                <a:solidFill>
                  <a:srgbClr val="888888"/>
                </a:solidFill>
                <a:latin typeface="Verdana" panose="020B0804030504040204"/>
                <a:ea typeface="Verdana" panose="020B0804030504040204"/>
                <a:cs typeface="Verdana" panose="020B0804030504040204"/>
                <a:sym typeface="Verdana" panose="020B08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hemanthredddy2003/prepwise-disaster-edu"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320548" y="788191"/>
            <a:ext cx="11803117"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804030504040204"/>
              <a:buNone/>
            </a:pPr>
            <a:r>
              <a:rPr lang="en-US" altLang="en-US" sz="2500" dirty="0">
                <a:solidFill>
                  <a:schemeClr val="tx1"/>
                </a:solidFill>
                <a:latin typeface="Times New Roman" panose="02020503050405090304" pitchFamily="18" charset="0"/>
                <a:ea typeface="Cambria" panose="02040503050406030204" pitchFamily="18" charset="0"/>
                <a:cs typeface="Times New Roman" panose="02020503050405090304" pitchFamily="18" charset="0"/>
              </a:rPr>
              <a:t>Disaster Preparedness and Response Education System for Schools and Colleges</a:t>
            </a:r>
          </a:p>
        </p:txBody>
      </p:sp>
      <p:sp>
        <p:nvSpPr>
          <p:cNvPr id="88" name="Google Shape;88;p13"/>
          <p:cNvSpPr txBox="1">
            <a:spLocks noGrp="1"/>
          </p:cNvSpPr>
          <p:nvPr>
            <p:ph type="subTitle" idx="1"/>
          </p:nvPr>
        </p:nvSpPr>
        <p:spPr>
          <a:xfrm>
            <a:off x="790469" y="1956388"/>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Times New Roman" panose="02020503050405090304" pitchFamily="18" charset="0"/>
                <a:ea typeface="Cambria" panose="02040503050406030204" pitchFamily="18" charset="0"/>
                <a:cs typeface="Times New Roman" panose="02020503050405090304" pitchFamily="18" charset="0"/>
              </a:rPr>
              <a:t>Batch Number:</a:t>
            </a:r>
            <a:r>
              <a:rPr lang="en-US" altLang="en-GB" dirty="0">
                <a:latin typeface="Times New Roman" panose="02020503050405090304" pitchFamily="18" charset="0"/>
                <a:ea typeface="Cambria" panose="02040503050406030204" pitchFamily="18" charset="0"/>
                <a:cs typeface="Times New Roman" panose="02020503050405090304" pitchFamily="18" charset="0"/>
              </a:rPr>
              <a:t> </a:t>
            </a:r>
            <a:r>
              <a:rPr lang="en-US" altLang="en-GB" dirty="0">
                <a:solidFill>
                  <a:schemeClr val="tx1"/>
                </a:solidFill>
                <a:latin typeface="Times New Roman" panose="02020503050405090304" pitchFamily="18" charset="0"/>
                <a:ea typeface="Cambria" panose="02040503050406030204" pitchFamily="18" charset="0"/>
                <a:cs typeface="Times New Roman" panose="02020503050405090304" pitchFamily="18" charset="0"/>
              </a:rPr>
              <a:t>IST_6</a:t>
            </a:r>
          </a:p>
        </p:txBody>
      </p:sp>
      <p:sp>
        <p:nvSpPr>
          <p:cNvPr id="90" name="Google Shape;90;p13"/>
          <p:cNvSpPr txBox="1"/>
          <p:nvPr/>
        </p:nvSpPr>
        <p:spPr>
          <a:xfrm>
            <a:off x="6432180" y="2282870"/>
            <a:ext cx="5321215" cy="2169684"/>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9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Under the Supervision of,</a:t>
            </a:r>
          </a:p>
          <a:p>
            <a:pPr marL="0" marR="0" lvl="0" indent="0" algn="ctr" rtl="0">
              <a:spcBef>
                <a:spcPts val="400"/>
              </a:spcBef>
              <a:spcAft>
                <a:spcPts val="0"/>
              </a:spcAft>
              <a:buClr>
                <a:srgbClr val="17365D"/>
              </a:buClr>
              <a:buSzPts val="2000"/>
              <a:buFont typeface="Arial" panose="020B0604020202090204"/>
              <a:buNone/>
            </a:pPr>
            <a:r>
              <a:rPr lang="en-IN" sz="1800" b="1" dirty="0">
                <a:latin typeface="Cambria" panose="02040503050406030204" pitchFamily="18" charset="0"/>
                <a:ea typeface="Cambria" panose="02040503050406030204" pitchFamily="18" charset="0"/>
              </a:rPr>
              <a:t>Dr. Poornima S</a:t>
            </a:r>
            <a:endParaRPr lang="en-IN"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9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 Assistant Professor</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9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           School of Computer Science and Engineering</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9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9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endParaRPr>
          </a:p>
        </p:txBody>
      </p:sp>
      <p:graphicFrame>
        <p:nvGraphicFramePr>
          <p:cNvPr id="89" name="Google Shape;89;p13"/>
          <p:cNvGraphicFramePr/>
          <p:nvPr/>
        </p:nvGraphicFramePr>
        <p:xfrm>
          <a:off x="320548" y="2508688"/>
          <a:ext cx="5514340" cy="2025211"/>
        </p:xfrm>
        <a:graphic>
          <a:graphicData uri="http://schemas.openxmlformats.org/drawingml/2006/table">
            <a:tbl>
              <a:tblPr firstRow="1" bandRow="1">
                <a:noFill/>
                <a:tableStyleId>{57690726-49DA-4552-BDEB-330DD8EA8BD9}</a:tableStyleId>
              </a:tblPr>
              <a:tblGrid>
                <a:gridCol w="2315447">
                  <a:extLst>
                    <a:ext uri="{9D8B030D-6E8A-4147-A177-3AD203B41FA5}">
                      <a16:colId xmlns:a16="http://schemas.microsoft.com/office/drawing/2014/main" val="20000"/>
                    </a:ext>
                  </a:extLst>
                </a:gridCol>
                <a:gridCol w="3198893">
                  <a:extLst>
                    <a:ext uri="{9D8B030D-6E8A-4147-A177-3AD203B41FA5}">
                      <a16:colId xmlns:a16="http://schemas.microsoft.com/office/drawing/2014/main" val="20001"/>
                    </a:ext>
                  </a:extLst>
                </a:gridCol>
              </a:tblGrid>
              <a:tr h="426362">
                <a:tc>
                  <a:txBody>
                    <a:bodyPr/>
                    <a:lstStyle/>
                    <a:p>
                      <a:pPr marL="0" marR="0" lvl="1" indent="0" algn="ctr" rtl="0">
                        <a:spcBef>
                          <a:spcPts val="0"/>
                        </a:spcBef>
                        <a:spcAft>
                          <a:spcPts val="0"/>
                        </a:spcAft>
                        <a:buNone/>
                      </a:pPr>
                      <a:endParaRPr lang="en-GB"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426362">
                <a:tc>
                  <a:txBody>
                    <a:bodyPr/>
                    <a:lstStyle/>
                    <a:p>
                      <a:pPr marL="0" marR="0" lvl="0" indent="0" algn="ctr" rtl="0">
                        <a:spcBef>
                          <a:spcPts val="0"/>
                        </a:spcBef>
                        <a:spcAft>
                          <a:spcPts val="0"/>
                        </a:spcAft>
                        <a:buFont typeface="+mj-lt"/>
                        <a:buNone/>
                      </a:pPr>
                      <a:endParaRPr lang="en-IN" sz="1800" b="1" u="none" strike="noStrike" cap="none" dirty="0">
                        <a:latin typeface="Times New Roman" panose="02020503050405090304" pitchFamily="18" charset="0"/>
                        <a:cs typeface="Times New Roman" panose="0202050305040509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IN" sz="1800" b="1" u="none" strike="noStrike" cap="none" dirty="0">
                        <a:latin typeface="Times New Roman" panose="02020503050405090304" pitchFamily="18" charset="0"/>
                        <a:cs typeface="Times New Roman" panose="02020503050405090304" pitchFamily="18" charset="0"/>
                      </a:endParaRPr>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26362">
                <a:tc>
                  <a:txBody>
                    <a:bodyPr/>
                    <a:lstStyle/>
                    <a:p>
                      <a:pPr marL="0" marR="0" lvl="0" indent="0" algn="ctr" rtl="0">
                        <a:spcBef>
                          <a:spcPts val="0"/>
                        </a:spcBef>
                        <a:spcAft>
                          <a:spcPts val="0"/>
                        </a:spcAft>
                        <a:buNone/>
                      </a:pPr>
                      <a:endParaRPr sz="1800" b="1" u="none" strike="noStrike" cap="none" dirty="0">
                        <a:latin typeface="Times New Roman" panose="02020503050405090304" pitchFamily="18" charset="0"/>
                        <a:cs typeface="Times New Roman" panose="0202050305040509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IN"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746125">
                <a:tc>
                  <a:txBody>
                    <a:bodyPr/>
                    <a:lstStyle/>
                    <a:p>
                      <a:pPr marL="0" marR="0" lvl="0" indent="0" algn="ctr" rtl="0">
                        <a:spcBef>
                          <a:spcPts val="0"/>
                        </a:spcBef>
                        <a:spcAft>
                          <a:spcPts val="0"/>
                        </a:spcAft>
                        <a:buNone/>
                      </a:pPr>
                      <a:endParaRPr sz="1800" b="1" u="none" strike="noStrike" cap="none" dirty="0">
                        <a:latin typeface="Times New Roman" panose="02020503050405090304" pitchFamily="18" charset="0"/>
                        <a:cs typeface="Times New Roman" panose="0202050305040509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b="1" u="none" strike="noStrike" cap="none" dirty="0">
                        <a:latin typeface="Times New Roman" panose="02020503050405090304" pitchFamily="18" charset="0"/>
                        <a:cs typeface="Times New Roman" panose="0202050305040509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90204"/>
              <a:buNone/>
            </a:pPr>
            <a:r>
              <a:rPr lang="en-GB" sz="2000" b="1"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CSE7</a:t>
            </a:r>
            <a:r>
              <a:rPr lang="en-US" altLang="en-GB" sz="2000" b="1"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302</a:t>
            </a:r>
            <a:r>
              <a:rPr lang="en-GB" sz="2000" b="1"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a:t>
            </a: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 </a:t>
            </a:r>
            <a:r>
              <a:rPr lang="en-US" altLang="en-GB" sz="20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University</a:t>
            </a: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 Project</a:t>
            </a:r>
            <a:endParaRPr sz="20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9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rPr>
              <a:t>Review-1</a:t>
            </a:r>
            <a:endParaRPr sz="2000" b="1" i="0" u="none" strike="noStrike" cap="none" dirty="0">
              <a:solidFill>
                <a:srgbClr val="17365D"/>
              </a:solidFill>
              <a:latin typeface="Cambria" panose="02040503050406030204" pitchFamily="18" charset="0"/>
              <a:ea typeface="Cambria" panose="02040503050406030204" pitchFamily="18" charset="0"/>
              <a:cs typeface="Verdana" panose="020B0804030504040204"/>
              <a:sym typeface="Verdana" panose="020B0804030504040204"/>
            </a:endParaRPr>
          </a:p>
        </p:txBody>
      </p:sp>
      <p:sp>
        <p:nvSpPr>
          <p:cNvPr id="8" name="Google Shape;91;p13"/>
          <p:cNvSpPr txBox="1"/>
          <p:nvPr/>
        </p:nvSpPr>
        <p:spPr>
          <a:xfrm>
            <a:off x="0" y="4533900"/>
            <a:ext cx="12331700"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9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804030504040204"/>
                <a:sym typeface="Verdana" panose="020B0804030504040204"/>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B.TECH</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804030504040204"/>
              <a:sym typeface="Verdana" panose="020B0804030504040204"/>
            </a:endParaRPr>
          </a:p>
          <a:p>
            <a:pPr marL="0" marR="0" lvl="0" indent="0" rtl="0">
              <a:spcBef>
                <a:spcPts val="0"/>
              </a:spcBef>
              <a:spcAft>
                <a:spcPts val="0"/>
              </a:spcAft>
              <a:buClr>
                <a:srgbClr val="17365D"/>
              </a:buClr>
              <a:buSzPct val="100000"/>
              <a:buFont typeface="Arial" panose="020B0604020202090204"/>
              <a:buNone/>
            </a:pPr>
            <a:r>
              <a:rPr lang="en-US" sz="1800" b="1" dirty="0">
                <a:solidFill>
                  <a:schemeClr val="accent1"/>
                </a:solidFill>
                <a:latin typeface="Cambria" panose="02040503050406030204" pitchFamily="18" charset="0"/>
                <a:ea typeface="Cambria" panose="02040503050406030204" pitchFamily="18" charset="0"/>
                <a:cs typeface="Verdana" panose="020B0804030504040204"/>
                <a:sym typeface="Verdana" panose="020B0804030504040204"/>
              </a:rPr>
              <a:t>Name of the HoD: </a:t>
            </a:r>
            <a:r>
              <a:rPr lang="en-US" sz="1800" b="1"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Dr.Pallavi R</a:t>
            </a:r>
          </a:p>
          <a:p>
            <a:pPr>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804030504040204"/>
                <a:sym typeface="Verdana" panose="020B0804030504040204"/>
              </a:rPr>
              <a:t>Name of the Program Project Coordinator: </a:t>
            </a:r>
            <a:r>
              <a:rPr lang="en-US" sz="1800" b="1"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Ms. Benitha </a:t>
            </a:r>
            <a:r>
              <a:rPr lang="en-US" sz="1800" b="1" dirty="0" err="1">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Christinal</a:t>
            </a:r>
            <a:r>
              <a:rPr lang="en-US" sz="1800" b="1"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 J</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804030504040204"/>
                <a:sym typeface="Verdana" panose="020B0804030504040204"/>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804030504040204"/>
              <a:sym typeface="Verdana" panose="020B0804030504040204"/>
            </a:endParaRPr>
          </a:p>
        </p:txBody>
      </p:sp>
      <p:graphicFrame>
        <p:nvGraphicFramePr>
          <p:cNvPr id="3" name="Table 2"/>
          <p:cNvGraphicFramePr/>
          <p:nvPr/>
        </p:nvGraphicFramePr>
        <p:xfrm>
          <a:off x="242595" y="2508688"/>
          <a:ext cx="6036285" cy="1940506"/>
        </p:xfrm>
        <a:graphic>
          <a:graphicData uri="http://schemas.openxmlformats.org/drawingml/2006/table">
            <a:tbl>
              <a:tblPr firstRow="1" bandRow="1">
                <a:tableStyleId>{5C22544A-7EE6-4342-B048-85BDC9FD1C3A}</a:tableStyleId>
              </a:tblPr>
              <a:tblGrid>
                <a:gridCol w="2640875">
                  <a:extLst>
                    <a:ext uri="{9D8B030D-6E8A-4147-A177-3AD203B41FA5}">
                      <a16:colId xmlns:a16="http://schemas.microsoft.com/office/drawing/2014/main" val="20000"/>
                    </a:ext>
                  </a:extLst>
                </a:gridCol>
                <a:gridCol w="3395410">
                  <a:extLst>
                    <a:ext uri="{9D8B030D-6E8A-4147-A177-3AD203B41FA5}">
                      <a16:colId xmlns:a16="http://schemas.microsoft.com/office/drawing/2014/main" val="20001"/>
                    </a:ext>
                  </a:extLst>
                </a:gridCol>
              </a:tblGrid>
              <a:tr h="371555">
                <a:tc>
                  <a:txBody>
                    <a:bodyPr/>
                    <a:lstStyle/>
                    <a:p>
                      <a:pPr>
                        <a:buNone/>
                      </a:pPr>
                      <a:r>
                        <a:rPr lang="en-US" sz="1800" b="1" dirty="0">
                          <a:latin typeface="Cambria" panose="02040503050406030204" pitchFamily="18" charset="0"/>
                          <a:ea typeface="Cambria" panose="02040503050406030204" pitchFamily="18" charset="0"/>
                        </a:rPr>
                        <a:t>ROLL NUMBER</a:t>
                      </a:r>
                      <a:endParaRPr 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tc>
                  <a:txBody>
                    <a:bodyPr/>
                    <a:lstStyle/>
                    <a:p>
                      <a:pPr>
                        <a:buNone/>
                      </a:pPr>
                      <a:r>
                        <a:rPr lang="en-US" sz="1800" b="1" dirty="0">
                          <a:latin typeface="Cambria" panose="02040503050406030204" pitchFamily="18" charset="0"/>
                          <a:ea typeface="Cambria" panose="02040503050406030204" pitchFamily="18" charset="0"/>
                        </a:rPr>
                        <a:t>NAME </a:t>
                      </a:r>
                      <a:endParaRPr 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extLst>
                  <a:ext uri="{0D108BD9-81ED-4DB2-BD59-A6C34878D82A}">
                    <a16:rowId xmlns:a16="http://schemas.microsoft.com/office/drawing/2014/main" val="10000"/>
                  </a:ext>
                </a:extLst>
              </a:tr>
              <a:tr h="371555">
                <a:tc>
                  <a:txBody>
                    <a:bodyPr/>
                    <a:lstStyle/>
                    <a:p>
                      <a:pPr>
                        <a:buNone/>
                      </a:pPr>
                      <a:r>
                        <a:rPr lang="en-US" sz="1800" b="1" dirty="0">
                          <a:latin typeface="Cambria" panose="02040503050406030204" pitchFamily="18" charset="0"/>
                          <a:ea typeface="Cambria" panose="02040503050406030204" pitchFamily="18" charset="0"/>
                        </a:rPr>
                        <a:t>20221IST0036</a:t>
                      </a:r>
                      <a:endParaRPr 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tc>
                  <a:txBody>
                    <a:bodyPr/>
                    <a:lstStyle/>
                    <a:p>
                      <a:pPr>
                        <a:buNone/>
                      </a:pPr>
                      <a:r>
                        <a:rPr lang="en-US" sz="1800" b="1" dirty="0">
                          <a:latin typeface="Cambria" panose="02040503050406030204" pitchFamily="18" charset="0"/>
                          <a:ea typeface="Cambria" panose="02040503050406030204" pitchFamily="18" charset="0"/>
                        </a:rPr>
                        <a:t>VARSHA B</a:t>
                      </a:r>
                      <a:endParaRPr 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extLst>
                  <a:ext uri="{0D108BD9-81ED-4DB2-BD59-A6C34878D82A}">
                    <a16:rowId xmlns:a16="http://schemas.microsoft.com/office/drawing/2014/main" val="10001"/>
                  </a:ext>
                </a:extLst>
              </a:tr>
              <a:tr h="370816">
                <a:tc>
                  <a:txBody>
                    <a:bodyPr/>
                    <a:lstStyle/>
                    <a:p>
                      <a:pPr>
                        <a:buNone/>
                      </a:pPr>
                      <a:r>
                        <a:rPr lang="en-US" sz="1800" b="1" dirty="0">
                          <a:latin typeface="Cambria" panose="02040503050406030204" pitchFamily="18" charset="0"/>
                          <a:ea typeface="Cambria" panose="02040503050406030204" pitchFamily="18" charset="0"/>
                        </a:rPr>
                        <a:t>20221IST0034</a:t>
                      </a:r>
                      <a:endParaRPr 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tc>
                  <a:txBody>
                    <a:bodyPr/>
                    <a:lstStyle/>
                    <a:p>
                      <a:pPr>
                        <a:buNone/>
                      </a:pPr>
                      <a:r>
                        <a:rPr lang="en-US" altLang="en-US" sz="1800" b="1" dirty="0">
                          <a:latin typeface="Cambria" panose="02040503050406030204" pitchFamily="18" charset="0"/>
                          <a:ea typeface="Cambria" panose="02040503050406030204" pitchFamily="18" charset="0"/>
                        </a:rPr>
                        <a:t>MOUNIKA.M</a:t>
                      </a:r>
                      <a:endParaRPr lang="en-US" alt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extLst>
                  <a:ext uri="{0D108BD9-81ED-4DB2-BD59-A6C34878D82A}">
                    <a16:rowId xmlns:a16="http://schemas.microsoft.com/office/drawing/2014/main" val="10002"/>
                  </a:ext>
                </a:extLst>
              </a:tr>
              <a:tr h="826580">
                <a:tc>
                  <a:txBody>
                    <a:bodyPr/>
                    <a:lstStyle/>
                    <a:p>
                      <a:pPr>
                        <a:buNone/>
                      </a:pPr>
                      <a:r>
                        <a:rPr lang="en-US" sz="1800" b="1" dirty="0">
                          <a:latin typeface="Cambria" panose="02040503050406030204" pitchFamily="18" charset="0"/>
                          <a:ea typeface="Cambria" panose="02040503050406030204" pitchFamily="18" charset="0"/>
                        </a:rPr>
                        <a:t>20221IST0007</a:t>
                      </a:r>
                      <a:endParaRPr 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tc>
                  <a:txBody>
                    <a:bodyPr/>
                    <a:lstStyle/>
                    <a:p>
                      <a:pPr>
                        <a:buNone/>
                      </a:pPr>
                      <a:r>
                        <a:rPr lang="en-US" altLang="en-US" sz="1800" b="1" dirty="0">
                          <a:latin typeface="Cambria" panose="02040503050406030204" pitchFamily="18" charset="0"/>
                          <a:ea typeface="Cambria" panose="02040503050406030204" pitchFamily="18" charset="0"/>
                        </a:rPr>
                        <a:t>MALLAKALUVA HEMANTH REDDY</a:t>
                      </a:r>
                      <a:endParaRPr lang="en-US" altLang="en-US" sz="1800" b="1" dirty="0">
                        <a:latin typeface="Cambria" panose="02040503050406030204" pitchFamily="18" charset="0"/>
                        <a:ea typeface="Cambria" panose="02040503050406030204" pitchFamily="18" charset="0"/>
                        <a:cs typeface="Times New Roman" panose="02020503050405090304"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804030504040204"/>
              <a:buNone/>
            </a:pPr>
            <a:r>
              <a:rPr lang="en-GB" dirty="0">
                <a:latin typeface="Times New Roman" panose="02020503050405090304" pitchFamily="18" charset="0"/>
                <a:ea typeface="Cambria" panose="02040503050406030204" pitchFamily="18" charset="0"/>
                <a:cs typeface="Times New Roman" panose="02020503050405090304" pitchFamily="18" charset="0"/>
              </a:rPr>
              <a:t>Problem Statement Number: </a:t>
            </a:r>
            <a:r>
              <a:rPr lang="en-US" altLang="en-US" dirty="0">
                <a:latin typeface="Times New Roman" panose="02020503050405090304" pitchFamily="18" charset="0"/>
                <a:ea typeface="Cambria" panose="02040503050406030204" pitchFamily="18" charset="0"/>
                <a:cs typeface="Times New Roman" panose="02020503050405090304" pitchFamily="18" charset="0"/>
              </a:rPr>
              <a:t>SIH25008</a:t>
            </a:r>
          </a:p>
        </p:txBody>
      </p:sp>
      <p:sp>
        <p:nvSpPr>
          <p:cNvPr id="97" name="Google Shape;97;p14"/>
          <p:cNvSpPr txBox="1">
            <a:spLocks noGrp="1"/>
          </p:cNvSpPr>
          <p:nvPr>
            <p:ph type="body" idx="1"/>
          </p:nvPr>
        </p:nvSpPr>
        <p:spPr>
          <a:xfrm>
            <a:off x="572655" y="997527"/>
            <a:ext cx="10908145" cy="5098474"/>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None/>
            </a:pPr>
            <a:r>
              <a:rPr lang="en-US" sz="1800" b="1" dirty="0">
                <a:latin typeface="Times New Roman" panose="02020503050405090304" pitchFamily="18" charset="0"/>
                <a:ea typeface="Cambria" panose="02040503050406030204" pitchFamily="18" charset="0"/>
                <a:cs typeface="Times New Roman" panose="02020503050405090304" pitchFamily="18" charset="0"/>
              </a:rPr>
              <a:t>Organization:  </a:t>
            </a: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Government of Punjab</a:t>
            </a:r>
          </a:p>
          <a:p>
            <a:pPr marL="342900" lvl="0" indent="-190500" algn="just">
              <a:lnSpc>
                <a:spcPct val="200000"/>
              </a:lnSpc>
              <a:spcBef>
                <a:spcPts val="0"/>
              </a:spcBef>
              <a:buNone/>
            </a:pPr>
            <a:r>
              <a:rPr lang="en-US" sz="1800" b="1" dirty="0">
                <a:latin typeface="Times New Roman" panose="02020503050405090304" pitchFamily="18" charset="0"/>
                <a:ea typeface="Cambria" panose="02040503050406030204" pitchFamily="18" charset="0"/>
                <a:cs typeface="Times New Roman" panose="02020503050405090304" pitchFamily="18" charset="0"/>
              </a:rPr>
              <a:t>Category (Hardware / Software / Both) : </a:t>
            </a:r>
            <a:r>
              <a:rPr lang="en-US" sz="1800" dirty="0">
                <a:latin typeface="Times New Roman" panose="02020503050405090304" pitchFamily="18" charset="0"/>
                <a:ea typeface="Cambria" panose="02040503050406030204" pitchFamily="18" charset="0"/>
                <a:cs typeface="Times New Roman" panose="02020503050405090304" pitchFamily="18" charset="0"/>
              </a:rPr>
              <a:t>Software</a:t>
            </a:r>
          </a:p>
          <a:p>
            <a:pPr marL="342900" lvl="0" indent="-190500" algn="just">
              <a:lnSpc>
                <a:spcPct val="200000"/>
              </a:lnSpc>
              <a:spcBef>
                <a:spcPts val="0"/>
              </a:spcBef>
              <a:buNone/>
            </a:pPr>
            <a:r>
              <a:rPr lang="en-US" sz="1800" b="1" dirty="0">
                <a:latin typeface="Times New Roman" panose="02020503050405090304" pitchFamily="18" charset="0"/>
                <a:ea typeface="Cambria" panose="02040503050406030204" pitchFamily="18" charset="0"/>
                <a:cs typeface="Times New Roman" panose="02020503050405090304" pitchFamily="18" charset="0"/>
              </a:rPr>
              <a:t>Problem Description:</a:t>
            </a: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In India, schools and colleges are often unprepared for natural disasters such as earthquakes, floods, and fires. While emergency guidelines exist on paper, there is a lack of structured disaster management education integrated into the curriculum. Institutions lack digital tools to simulate disaster scenarios or conduct virtual drills to train students and staff on safety protocols.Furthermore, there’s a gap in localized awareness—many students are unaware of how to react during disasters specific to their region. Manual drills, where they occur, are infrequent and often poorly coordinated, failing to instill practical preparedness.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9535" y="139960"/>
            <a:ext cx="10890897" cy="541176"/>
          </a:xfrm>
        </p:spPr>
        <p:txBody>
          <a:bodyPr/>
          <a:lstStyle/>
          <a:p>
            <a:br>
              <a:rPr lang="en-US" altLang="en-US" dirty="0">
                <a:latin typeface="Times New Roman" panose="02020503050405090304" pitchFamily="18" charset="0"/>
                <a:cs typeface="Times New Roman" panose="02020503050405090304" pitchFamily="18" charset="0"/>
              </a:rPr>
            </a:br>
            <a:r>
              <a:rPr lang="en-US" altLang="en-US" dirty="0">
                <a:latin typeface="Times New Roman" panose="02020503050405090304" pitchFamily="18" charset="0"/>
                <a:cs typeface="Times New Roman" panose="02020503050405090304" pitchFamily="18" charset="0"/>
              </a:rPr>
              <a:t>Objectives</a:t>
            </a:r>
            <a:br>
              <a:rPr lang="en-US" altLang="en-US" dirty="0">
                <a:latin typeface="Times New Roman" panose="02020503050405090304" pitchFamily="18" charset="0"/>
                <a:cs typeface="Times New Roman" panose="02020503050405090304" pitchFamily="18" charset="0"/>
              </a:rPr>
            </a:br>
            <a:endParaRPr lang="en-US" dirty="0"/>
          </a:p>
        </p:txBody>
      </p:sp>
      <p:sp>
        <p:nvSpPr>
          <p:cNvPr id="3" name="Text Placeholder 2"/>
          <p:cNvSpPr>
            <a:spLocks noGrp="1"/>
          </p:cNvSpPr>
          <p:nvPr>
            <p:ph type="body" idx="1"/>
          </p:nvPr>
        </p:nvSpPr>
        <p:spPr>
          <a:xfrm>
            <a:off x="579535" y="952500"/>
            <a:ext cx="10668000" cy="4953000"/>
          </a:xfrm>
        </p:spPr>
        <p:txBody>
          <a:bodyPr>
            <a:noAutofit/>
          </a:bodyPr>
          <a:lstStyle/>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To develop a digital disaster preparedness education system for schools and colleges</a:t>
            </a:r>
          </a:p>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To provide interactive learning modules for multiple disaster types</a:t>
            </a:r>
          </a:p>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To enable virtual drills and disaster simulations</a:t>
            </a:r>
          </a:p>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To deliver region-specific disaster alerts and safety instructions</a:t>
            </a:r>
          </a:p>
          <a:p>
            <a:pPr algn="l">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To assist institutions in tracking preparedness levels and drill participation</a:t>
            </a:r>
          </a:p>
        </p:txBody>
      </p:sp>
      <p:sp>
        <p:nvSpPr>
          <p:cNvPr id="4" name="Text Box 3"/>
          <p:cNvSpPr txBox="1"/>
          <p:nvPr/>
        </p:nvSpPr>
        <p:spPr>
          <a:xfrm>
            <a:off x="2515235" y="4290060"/>
            <a:ext cx="4064000" cy="306705"/>
          </a:xfrm>
          <a:prstGeom prst="rect">
            <a:avLst/>
          </a:prstGeom>
          <a:noFill/>
        </p:spPr>
        <p:txBody>
          <a:bodyPr wrap="square" rtlCol="0">
            <a:spAutoFit/>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714" y="293299"/>
            <a:ext cx="10668000" cy="487500"/>
          </a:xfrm>
        </p:spPr>
        <p:txBody>
          <a:bodyPr/>
          <a:lstStyle/>
          <a:p>
            <a:r>
              <a:rPr lang="en-US" dirty="0">
                <a:latin typeface="Times New Roman" panose="02020503050405090304" pitchFamily="18" charset="0"/>
                <a:cs typeface="Times New Roman" panose="02020503050405090304" pitchFamily="18" charset="0"/>
              </a:rPr>
              <a:t>Background and Related Work</a:t>
            </a:r>
          </a:p>
        </p:txBody>
      </p:sp>
      <p:sp>
        <p:nvSpPr>
          <p:cNvPr id="3" name="Text Placeholder 2"/>
          <p:cNvSpPr>
            <a:spLocks noGrp="1"/>
          </p:cNvSpPr>
          <p:nvPr>
            <p:ph type="body" idx="1"/>
          </p:nvPr>
        </p:nvSpPr>
        <p:spPr>
          <a:xfrm>
            <a:off x="660193" y="853460"/>
            <a:ext cx="10434734" cy="5471865"/>
          </a:xfrm>
        </p:spPr>
        <p:txBody>
          <a:bodyPr>
            <a:noAutofit/>
          </a:bodyPr>
          <a:lstStyle/>
          <a:p>
            <a:pPr marL="76200" indent="0">
              <a:lnSpc>
                <a:spcPct val="150000"/>
              </a:lnSpc>
              <a:buNone/>
            </a:pPr>
            <a:r>
              <a:rPr lang="en-US" sz="1900" b="1" dirty="0">
                <a:latin typeface="Times New Roman" panose="02020503050405090304" pitchFamily="18" charset="0"/>
                <a:cs typeface="Times New Roman" panose="02020503050405090304" pitchFamily="18" charset="0"/>
              </a:rPr>
              <a:t>Background</a:t>
            </a:r>
          </a:p>
          <a:p>
            <a:pPr marL="76200" indent="0">
              <a:lnSpc>
                <a:spcPct val="150000"/>
              </a:lnSpc>
              <a:buNone/>
            </a:pPr>
            <a:r>
              <a:rPr lang="en-US" altLang="en-US" sz="1800" dirty="0">
                <a:latin typeface="Times New Roman" panose="02020503050405090304" pitchFamily="18" charset="0"/>
                <a:cs typeface="Times New Roman" panose="02020503050405090304" pitchFamily="18" charset="0"/>
              </a:rPr>
              <a:t>India ranks high in global disaster vulnerability indexes. However, disaster education in schools and colleges is limited to theory or occasional awareness programs. Students and staff lack hands-on training and real-time guidance mechanisms during emergencies. There is a strong need for an integrated, technology-driven disaster preparedness system that can educate, simulate, and guide users effectively.</a:t>
            </a:r>
          </a:p>
          <a:p>
            <a:pPr marL="76200" indent="0">
              <a:lnSpc>
                <a:spcPct val="150000"/>
              </a:lnSpc>
              <a:buNone/>
            </a:pPr>
            <a:r>
              <a:rPr lang="en-US" altLang="en-US" sz="1800" b="1" dirty="0">
                <a:latin typeface="Times New Roman" panose="02020503050405090304" pitchFamily="18" charset="0"/>
                <a:cs typeface="Times New Roman" panose="02020503050405090304" pitchFamily="18" charset="0"/>
              </a:rPr>
              <a:t>Related Work</a:t>
            </a:r>
          </a:p>
          <a:p>
            <a:pPr marL="76200" indent="0">
              <a:lnSpc>
                <a:spcPct val="150000"/>
              </a:lnSpc>
              <a:buNone/>
            </a:pPr>
            <a:r>
              <a:rPr lang="en-US" altLang="en-US" sz="1800" dirty="0">
                <a:latin typeface="Times New Roman" panose="02020503050405090304" pitchFamily="18" charset="0"/>
                <a:cs typeface="Times New Roman" panose="02020503050405090304" pitchFamily="18" charset="0"/>
              </a:rPr>
              <a:t>Existing disaster management systems focus mainly on post-disaster response rather than preparedness education. Some platforms provide static content or manuals, while others focus on government-level response systems. These solutions do not cater specifically to educational institutions and lack interactive learning, simulations, and preparedness analytics. Research suggests that digital and simulation-based disaster education significantly improves emergency response efficiency.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503050405090304" pitchFamily="18" charset="0"/>
                <a:ea typeface="Cambria" panose="02040503050406030204" pitchFamily="18" charset="0"/>
                <a:cs typeface="Times New Roman" panose="02020503050405090304" pitchFamily="18" charset="0"/>
              </a:rPr>
              <a:t>Analysis of Problem Statement</a:t>
            </a:r>
          </a:p>
        </p:txBody>
      </p:sp>
      <p:sp>
        <p:nvSpPr>
          <p:cNvPr id="115" name="Google Shape;115;p17"/>
          <p:cNvSpPr txBox="1">
            <a:spLocks noGrp="1"/>
          </p:cNvSpPr>
          <p:nvPr>
            <p:ph type="body" idx="1"/>
          </p:nvPr>
        </p:nvSpPr>
        <p:spPr>
          <a:xfrm>
            <a:off x="762000" y="952500"/>
            <a:ext cx="10668000" cy="4953000"/>
          </a:xfrm>
          <a:prstGeom prst="rect">
            <a:avLst/>
          </a:prstGeom>
          <a:noFill/>
          <a:ln>
            <a:noFill/>
          </a:ln>
        </p:spPr>
        <p:txBody>
          <a:bodyPr spcFirstLastPara="1" wrap="square" lIns="91425" tIns="45700" rIns="91425" bIns="45700" anchor="t" anchorCtr="0">
            <a:normAutofit lnSpcReduction="10000"/>
          </a:bodyPr>
          <a:lstStyle/>
          <a:p>
            <a:pPr marL="76200" indent="0">
              <a:buNone/>
            </a:pPr>
            <a:r>
              <a:rPr lang="en-US" sz="1900" b="1" dirty="0">
                <a:latin typeface="Times New Roman" panose="02020503050405090304" pitchFamily="18" charset="0"/>
                <a:cs typeface="Times New Roman" panose="02020503050405090304" pitchFamily="18" charset="0"/>
              </a:rPr>
              <a:t>ANALYSIS OF THE PROBLEM</a:t>
            </a:r>
          </a:p>
          <a:p>
            <a:pPr marL="76200" indent="0">
              <a:buNone/>
            </a:pPr>
            <a:endParaRPr lang="en-US" sz="1800" b="1"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altLang="en-US" sz="1900" dirty="0">
                <a:latin typeface="Times New Roman" panose="02020503050405090304" pitchFamily="18" charset="0"/>
                <a:cs typeface="Times New Roman" panose="02020503050405090304" pitchFamily="18" charset="0"/>
              </a:rPr>
              <a:t>Lack of structured disaster preparedness education in institutions</a:t>
            </a:r>
          </a:p>
          <a:p>
            <a:pPr>
              <a:buFont typeface="Wingdings" panose="05000000000000000000" pitchFamily="2" charset="2"/>
              <a:buChar char="Ø"/>
            </a:pPr>
            <a:r>
              <a:rPr lang="en-US" altLang="en-US" sz="1900" dirty="0">
                <a:latin typeface="Times New Roman" panose="02020503050405090304" pitchFamily="18" charset="0"/>
                <a:cs typeface="Times New Roman" panose="02020503050405090304" pitchFamily="18" charset="0"/>
              </a:rPr>
              <a:t>Low student engagement with traditional awareness programs</a:t>
            </a:r>
          </a:p>
          <a:p>
            <a:pPr>
              <a:buFont typeface="Wingdings" panose="05000000000000000000" pitchFamily="2" charset="2"/>
              <a:buChar char="Ø"/>
            </a:pPr>
            <a:r>
              <a:rPr lang="en-US" altLang="en-US" sz="1900" dirty="0">
                <a:latin typeface="Times New Roman" panose="02020503050405090304" pitchFamily="18" charset="0"/>
                <a:cs typeface="Times New Roman" panose="02020503050405090304" pitchFamily="18" charset="0"/>
              </a:rPr>
              <a:t>Absence of virtual drills and simulations</a:t>
            </a:r>
          </a:p>
          <a:p>
            <a:pPr>
              <a:buFont typeface="Wingdings" panose="05000000000000000000" pitchFamily="2" charset="2"/>
              <a:buChar char="Ø"/>
            </a:pPr>
            <a:r>
              <a:rPr lang="en-US" altLang="en-US" sz="1900" dirty="0">
                <a:latin typeface="Times New Roman" panose="02020503050405090304" pitchFamily="18" charset="0"/>
                <a:cs typeface="Times New Roman" panose="02020503050405090304" pitchFamily="18" charset="0"/>
              </a:rPr>
              <a:t>No centralized system for monitoring preparedness levels</a:t>
            </a:r>
          </a:p>
          <a:p>
            <a:pPr>
              <a:buFont typeface="Wingdings" panose="05000000000000000000" pitchFamily="2" charset="2"/>
              <a:buChar char="Ø"/>
            </a:pPr>
            <a:r>
              <a:rPr lang="en-US" altLang="en-US" sz="1900" dirty="0">
                <a:latin typeface="Times New Roman" panose="02020503050405090304" pitchFamily="18" charset="0"/>
                <a:cs typeface="Times New Roman" panose="02020503050405090304" pitchFamily="18" charset="0"/>
              </a:rPr>
              <a:t>Poor region-specific disaster awareness</a:t>
            </a:r>
          </a:p>
          <a:p>
            <a:pPr>
              <a:buFont typeface="Wingdings" panose="05000000000000000000" pitchFamily="2" charset="2"/>
              <a:buChar char="Ø"/>
            </a:pPr>
            <a:endParaRPr lang="en-US" sz="1900" dirty="0">
              <a:latin typeface="Times New Roman" panose="02020503050405090304" pitchFamily="18" charset="0"/>
              <a:cs typeface="Times New Roman" panose="02020503050405090304" pitchFamily="18" charset="0"/>
            </a:endParaRPr>
          </a:p>
          <a:p>
            <a:pPr marL="76200" indent="0">
              <a:buNone/>
            </a:pPr>
            <a:r>
              <a:rPr lang="en-US" altLang="en-US" sz="1800" dirty="0">
                <a:latin typeface="Times New Roman" panose="02020503050405090304" pitchFamily="18" charset="0"/>
                <a:cs typeface="Times New Roman" panose="02020503050405090304" pitchFamily="18" charset="0"/>
              </a:rPr>
              <a:t> </a:t>
            </a:r>
            <a:r>
              <a:rPr lang="en-US" altLang="en-US" sz="1900" b="1" dirty="0">
                <a:latin typeface="Times New Roman" panose="02020503050405090304" pitchFamily="18" charset="0"/>
                <a:cs typeface="Times New Roman" panose="02020503050405090304" pitchFamily="18" charset="0"/>
              </a:rPr>
              <a:t>PROPOSED SOLUTION</a:t>
            </a:r>
          </a:p>
          <a:p>
            <a:pPr marL="76200" indent="0">
              <a:buFont typeface="Wingdings" panose="05000000000000000000" pitchFamily="2" charset="2"/>
              <a:buNone/>
            </a:pPr>
            <a:endParaRPr lang="en-US" altLang="en-US" sz="1800"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Provide interactive disaster-specific learning modules</a:t>
            </a:r>
          </a:p>
          <a:p>
            <a:pPr>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Conduct virtual drills and simulated emergency scenarios</a:t>
            </a:r>
          </a:p>
          <a:p>
            <a:pPr>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Enable real-time alerts and safety instructions</a:t>
            </a:r>
          </a:p>
          <a:p>
            <a:pPr>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Provide dashboards for institutional preparedness monitoring</a:t>
            </a:r>
          </a:p>
          <a:p>
            <a:pPr>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sym typeface="+mn-ea"/>
              </a:rPr>
              <a:t>Develop a digital disaster preparedness education platform</a:t>
            </a:r>
            <a:endParaRPr lang="en-US" altLang="en-US" sz="1800" dirty="0">
              <a:latin typeface="Times New Roman" panose="02020503050405090304" pitchFamily="18" charset="0"/>
              <a:cs typeface="Times New Roman" panose="02020503050405090304" pitchFamily="18" charset="0"/>
            </a:endParaRPr>
          </a:p>
          <a:p>
            <a:pPr>
              <a:buFont typeface="Wingdings" panose="05000000000000000000" pitchFamily="2" charset="2"/>
              <a:buChar char="Ø"/>
            </a:pPr>
            <a:endParaRPr lang="en-US" altLang="en-US" sz="1800"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endParaRPr lang="en-US" altLang="en-US" sz="1800" dirty="0">
              <a:latin typeface="Times New Roman" panose="02020503050405090304" pitchFamily="18" charset="0"/>
              <a:cs typeface="Times New Roman" panose="02020503050405090304" pitchFamily="18" charset="0"/>
            </a:endParaRPr>
          </a:p>
          <a:p>
            <a:pPr marL="342900" lvl="0" indent="-190500" algn="just" rtl="0">
              <a:lnSpc>
                <a:spcPct val="150000"/>
              </a:lnSpc>
              <a:spcBef>
                <a:spcPts val="0"/>
              </a:spcBef>
              <a:spcAft>
                <a:spcPts val="0"/>
              </a:spcAft>
              <a:buClr>
                <a:schemeClr val="dk1"/>
              </a:buClr>
              <a:buSzPct val="100000"/>
              <a:buNone/>
            </a:pPr>
            <a:endParaRPr lang="en-US" alt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503050405090304" pitchFamily="18" charset="0"/>
                <a:ea typeface="Cambria" panose="02040503050406030204" pitchFamily="18" charset="0"/>
                <a:cs typeface="Times New Roman" panose="02020503050405090304" pitchFamily="18" charset="0"/>
              </a:rPr>
              <a:t>Analysis of Problem Statement (</a:t>
            </a:r>
            <a:r>
              <a:rPr lang="en-US" sz="2000" dirty="0">
                <a:latin typeface="Times New Roman" panose="02020503050405090304" pitchFamily="18" charset="0"/>
                <a:ea typeface="Cambria" panose="02040503050406030204" pitchFamily="18" charset="0"/>
                <a:cs typeface="Times New Roman" panose="02020503050405090304" pitchFamily="18" charset="0"/>
              </a:rPr>
              <a:t>contd…)</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Technology Stack Components:</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Frontend: HTML, CSS, JavaScript</a:t>
            </a: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Backend: Python (Flask / Django)</a:t>
            </a: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Database: MySQL / SQLite</a:t>
            </a: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Notification Services: Firebase / Email / SMS</a:t>
            </a: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Deployment: Cloud-based hosting</a:t>
            </a:r>
          </a:p>
          <a:p>
            <a:pPr marL="342900" lvl="0" indent="-190500" algn="just" rtl="0">
              <a:lnSpc>
                <a:spcPct val="15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150000"/>
              </a:lnSpc>
              <a:spcBef>
                <a:spcPts val="0"/>
              </a:spcBef>
              <a:spcAft>
                <a:spcPts val="0"/>
              </a:spcAft>
              <a:buClr>
                <a:schemeClr val="dk1"/>
              </a:buClr>
              <a:buSzPct val="100000"/>
              <a:buNone/>
            </a:pPr>
            <a:r>
              <a:rPr lang="en-US" altLang="en-US" b="1" dirty="0">
                <a:latin typeface="Cambria" panose="02040503050406030204" pitchFamily="18" charset="0"/>
                <a:ea typeface="Cambria" panose="02040503050406030204" pitchFamily="18" charset="0"/>
              </a:rPr>
              <a:t>Software Requirements:</a:t>
            </a: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Operating System: Windows / Linux / macOS</a:t>
            </a: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Programming Language: Python 3.x</a:t>
            </a: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Backend Framework: Flask / Django</a:t>
            </a: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Frontend Technologies: HTML, CSS, JavaScript</a:t>
            </a: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Database: MySQL / SQLite</a:t>
            </a: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Development Tools: VS Code, GitHub</a:t>
            </a:r>
          </a:p>
          <a:p>
            <a:pPr marL="342900" lvl="0" indent="-190500" algn="just" rtl="0">
              <a:lnSpc>
                <a:spcPct val="150000"/>
              </a:lnSpc>
              <a:spcBef>
                <a:spcPts val="0"/>
              </a:spcBef>
              <a:spcAft>
                <a:spcPts val="0"/>
              </a:spcAft>
              <a:buClr>
                <a:schemeClr val="dk1"/>
              </a:buClr>
              <a:buSzPct val="100000"/>
              <a:buNone/>
            </a:pPr>
            <a:r>
              <a:rPr lang="en-US" altLang="en-US" sz="1800" dirty="0">
                <a:latin typeface="Times New Roman" panose="02020503050405090304" pitchFamily="18" charset="0"/>
                <a:ea typeface="Cambria" panose="02040503050406030204" pitchFamily="18" charset="0"/>
                <a:cs typeface="Times New Roman" panose="02020503050405090304" pitchFamily="18" charset="0"/>
              </a:rPr>
              <a:t>Web Browser: Chrome / Edge / Mobile Browser</a:t>
            </a:r>
          </a:p>
          <a:p>
            <a:pPr marL="342900" lvl="0" indent="-190500" algn="just" rtl="0">
              <a:lnSpc>
                <a:spcPct val="200000"/>
              </a:lnSpc>
              <a:spcBef>
                <a:spcPts val="0"/>
              </a:spcBef>
              <a:spcAft>
                <a:spcPts val="0"/>
              </a:spcAft>
              <a:buClr>
                <a:schemeClr val="dk1"/>
              </a:buClr>
              <a:buSzPct val="100000"/>
              <a:buNone/>
            </a:pPr>
            <a:endParaRPr sz="1800" dirty="0">
              <a:latin typeface="Times New Roman" panose="02020503050405090304" pitchFamily="18" charset="0"/>
              <a:ea typeface="Cambria" panose="02040503050406030204" pitchFamily="18" charset="0"/>
              <a:cs typeface="Times New Roman" panose="0202050305040509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503050405090304" pitchFamily="18" charset="0"/>
                <a:cs typeface="Times New Roman" panose="02020503050405090304" pitchFamily="18" charset="0"/>
              </a:rPr>
              <a:t>SDG Mapping</a:t>
            </a:r>
          </a:p>
        </p:txBody>
      </p:sp>
      <p:sp>
        <p:nvSpPr>
          <p:cNvPr id="3" name="Text Placeholder 2"/>
          <p:cNvSpPr>
            <a:spLocks noGrp="1"/>
          </p:cNvSpPr>
          <p:nvPr>
            <p:ph type="body" idx="1"/>
          </p:nvPr>
        </p:nvSpPr>
        <p:spPr>
          <a:xfrm>
            <a:off x="680720" y="952500"/>
            <a:ext cx="10668000" cy="4953000"/>
          </a:xfrm>
        </p:spPr>
        <p:txBody>
          <a:bodyPr/>
          <a:lstStyle/>
          <a:p>
            <a:pPr marL="76200" indent="0">
              <a:buNone/>
            </a:pPr>
            <a:r>
              <a:rPr lang="en-US" b="1" dirty="0">
                <a:latin typeface="Times New Roman" panose="02020603050405020304" pitchFamily="18" charset="0"/>
                <a:cs typeface="Times New Roman" panose="02020603050405020304" pitchFamily="18" charset="0"/>
              </a:rPr>
              <a:t>SDG 9 – Industry, Innovation and Infrastructure</a:t>
            </a:r>
          </a:p>
          <a:p>
            <a:pPr marL="76200" indent="0">
              <a:buNone/>
            </a:pPr>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This project aligns with SDG 9 by promoting innovative digital infrastructure for disaster preparedness education.</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The proposed system leverages software-based learning platforms to strengthen institutional preparedness and resilience. </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By using technology to educate students and institutions on disaster response, the system supports the development of reliable, sustainable, and resilient infrastructure. </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It encourages innovation in disaster risk education and enhances the ability of educational institutions to respond effectively during emergencies.</a:t>
            </a:r>
          </a:p>
          <a:p>
            <a:pPr marL="76200" indent="0">
              <a:buFont typeface="Wingdings" panose="05000000000000000000" pitchFamily="2" charset="2"/>
              <a:buNone/>
            </a:pPr>
            <a:endParaRPr lang="en-US" altLang="en-US" sz="19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6200"/>
            <a:r>
              <a:rPr lang="en-US" altLang="en-US" dirty="0">
                <a:latin typeface="Times New Roman" panose="02020503050405090304" pitchFamily="18" charset="0"/>
                <a:cs typeface="Times New Roman" panose="02020503050405090304" pitchFamily="18" charset="0"/>
              </a:rPr>
              <a:t>Innovation or Novel Contributions</a:t>
            </a:r>
          </a:p>
        </p:txBody>
      </p:sp>
      <p:sp>
        <p:nvSpPr>
          <p:cNvPr id="3" name="Text Placeholder 2"/>
          <p:cNvSpPr>
            <a:spLocks noGrp="1"/>
          </p:cNvSpPr>
          <p:nvPr>
            <p:ph type="body" idx="1"/>
          </p:nvPr>
        </p:nvSpPr>
        <p:spPr/>
        <p:txBody>
          <a:bodyPr>
            <a:normAutofit/>
          </a:bodyPr>
          <a:lstStyle/>
          <a:p>
            <a:pPr>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Interactive disaster preparedness education platform</a:t>
            </a:r>
          </a:p>
          <a:p>
            <a:pPr>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Virtual disaster drills and simulations</a:t>
            </a:r>
          </a:p>
          <a:p>
            <a:pPr>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Region-specific disaster awareness and alerts</a:t>
            </a:r>
          </a:p>
          <a:p>
            <a:pPr>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Gamified learning to improve engagement</a:t>
            </a:r>
          </a:p>
          <a:p>
            <a:pPr>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Institutional preparedness analytics dashboard</a:t>
            </a:r>
          </a:p>
          <a:p>
            <a:pPr>
              <a:lnSpc>
                <a:spcPct val="150000"/>
              </a:lnSpc>
              <a:buFont typeface="Wingdings" panose="05000000000000000000" pitchFamily="2" charset="2"/>
              <a:buChar char="Ø"/>
            </a:pPr>
            <a:r>
              <a:rPr lang="en-US" altLang="en-US" sz="1800" dirty="0">
                <a:latin typeface="Times New Roman" panose="02020503050405090304" pitchFamily="18" charset="0"/>
                <a:cs typeface="Times New Roman" panose="02020503050405090304" pitchFamily="18" charset="0"/>
              </a:rPr>
              <a:t>Scalable and low-cost solution for schools and colleges</a:t>
            </a:r>
          </a:p>
          <a:p>
            <a:pPr>
              <a:buFont typeface="Wingdings" panose="05000000000000000000" pitchFamily="2" charset="2"/>
              <a:buChar char="Ø"/>
            </a:pPr>
            <a:endParaRPr lang="en-US" altLang="en-US" sz="18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503050405090304" pitchFamily="18" charset="0"/>
                <a:ea typeface="Cambria" panose="02040503050406030204" pitchFamily="18" charset="0"/>
                <a:cs typeface="Times New Roman" panose="020205030504050903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1430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90204"/>
              <a:buChar char="•"/>
              <a:defRPr sz="24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1pPr>
            <a:lvl2pPr marL="914400" marR="0" lvl="1"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2pPr>
            <a:lvl3pPr marL="1371600" marR="0" lvl="2" indent="-342900" algn="l" rtl="0">
              <a:lnSpc>
                <a:spcPct val="100000"/>
              </a:lnSpc>
              <a:spcBef>
                <a:spcPts val="360"/>
              </a:spcBef>
              <a:spcAft>
                <a:spcPts val="0"/>
              </a:spcAft>
              <a:buClr>
                <a:schemeClr val="dk1"/>
              </a:buClr>
              <a:buSzPts val="1800"/>
              <a:buFont typeface="Arial" panose="020B0604020202090204"/>
              <a:buChar char="•"/>
              <a:defRPr sz="18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3pPr>
            <a:lvl4pPr marL="1828800" marR="0" lvl="3" indent="-330200" algn="l" rtl="0">
              <a:lnSpc>
                <a:spcPct val="100000"/>
              </a:lnSpc>
              <a:spcBef>
                <a:spcPts val="320"/>
              </a:spcBef>
              <a:spcAft>
                <a:spcPts val="0"/>
              </a:spcAft>
              <a:buClr>
                <a:schemeClr val="dk1"/>
              </a:buClr>
              <a:buSzPts val="1600"/>
              <a:buFont typeface="Arial" panose="020B0604020202090204"/>
              <a:buChar char="–"/>
              <a:defRPr sz="16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4pPr>
            <a:lvl5pPr marL="2286000" marR="0" lvl="4" indent="-330200" algn="l" rtl="0">
              <a:lnSpc>
                <a:spcPct val="100000"/>
              </a:lnSpc>
              <a:spcBef>
                <a:spcPts val="320"/>
              </a:spcBef>
              <a:spcAft>
                <a:spcPts val="0"/>
              </a:spcAft>
              <a:buClr>
                <a:schemeClr val="dk1"/>
              </a:buClr>
              <a:buSzPts val="1600"/>
              <a:buFont typeface="Arial" panose="020B0604020202090204"/>
              <a:buChar char="»"/>
              <a:defRPr sz="1600" b="0" i="0" u="none" strike="noStrike" cap="none">
                <a:solidFill>
                  <a:schemeClr val="dk1"/>
                </a:solidFill>
                <a:latin typeface="Verdana" panose="020B0804030504040204"/>
                <a:ea typeface="Verdana" panose="020B0804030504040204"/>
                <a:cs typeface="Verdana" panose="020B0804030504040204"/>
                <a:sym typeface="Verdana" panose="020B0804030504040204"/>
              </a:defRPr>
            </a:lvl5pPr>
            <a:lvl6pPr marL="2743200" marR="0" lvl="5" indent="-342900" algn="l" rtl="0">
              <a:lnSpc>
                <a:spcPct val="100000"/>
              </a:lnSpc>
              <a:spcBef>
                <a:spcPts val="360"/>
              </a:spcBef>
              <a:spcAft>
                <a:spcPts val="0"/>
              </a:spcAft>
              <a:buClr>
                <a:schemeClr val="dk1"/>
              </a:buClr>
              <a:buSzPts val="1800"/>
              <a:buFont typeface="Arial" panose="020B0604020202090204"/>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panose="020B0604020202090204"/>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panose="020B0604020202090204"/>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panose="020B0604020202090204"/>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panose="020B0604020202090204"/>
              <a:buNone/>
            </a:pPr>
            <a:r>
              <a:rPr lang="en-US" altLang="en-US" b="1" dirty="0">
                <a:latin typeface="Times New Roman" panose="02020503050405090304" pitchFamily="18" charset="0"/>
                <a:ea typeface="Cambria" panose="02040503050406030204" pitchFamily="18" charset="0"/>
                <a:cs typeface="Times New Roman" panose="02020503050405090304" pitchFamily="18" charset="0"/>
              </a:rPr>
              <a:t>Repository Link:</a:t>
            </a:r>
          </a:p>
          <a:p>
            <a:pPr marL="342900" indent="-190500" algn="just">
              <a:spcBef>
                <a:spcPts val="0"/>
              </a:spcBef>
              <a:buSzPct val="100000"/>
              <a:buFont typeface="Arial" panose="020B0604020202090204"/>
              <a:buNone/>
            </a:pPr>
            <a:endParaRPr lang="en-US" altLang="en-US" b="1" dirty="0">
              <a:latin typeface="Times New Roman" panose="02020503050405090304" pitchFamily="18" charset="0"/>
              <a:ea typeface="Cambria" panose="02040503050406030204" pitchFamily="18" charset="0"/>
              <a:cs typeface="Times New Roman" panose="02020503050405090304" pitchFamily="18" charset="0"/>
            </a:endParaRPr>
          </a:p>
          <a:p>
            <a:pPr marL="342900" indent="-190500" algn="just">
              <a:spcBef>
                <a:spcPts val="0"/>
              </a:spcBef>
              <a:buSzPct val="100000"/>
              <a:buNone/>
            </a:pPr>
            <a:r>
              <a:rPr lang="en-US" altLang="en-US" dirty="0">
                <a:latin typeface="Times New Roman" panose="02020603050405020304" pitchFamily="18" charset="0"/>
                <a:ea typeface="Cambria" panose="02040503050406030204" pitchFamily="18" charset="0"/>
                <a:cs typeface="Times New Roman" panose="02020603050405020304" pitchFamily="18" charset="0"/>
                <a:hlinkClick r:id="rId3"/>
              </a:rPr>
              <a:t>https://github.com/hemanthredddy2003/prepwise-disaster-edu</a:t>
            </a:r>
            <a:endParaRPr lang="en-US" altLang="en-US"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804030504040204"/>
              <a:buNone/>
            </a:pPr>
            <a:r>
              <a:rPr lang="en-GB" dirty="0">
                <a:latin typeface="Times New Roman" panose="02020503050405090304" pitchFamily="18" charset="0"/>
                <a:ea typeface="Cambria" panose="02040503050406030204" pitchFamily="18" charset="0"/>
                <a:cs typeface="Times New Roman" panose="02020503050405090304" pitchFamily="18" charset="0"/>
              </a:rPr>
              <a:t>Timeline of the Project (Gantt Chart)</a:t>
            </a:r>
            <a:endParaRPr dirty="0">
              <a:latin typeface="Times New Roman" panose="02020503050405090304" pitchFamily="18" charset="0"/>
              <a:ea typeface="Cambria" panose="02040503050406030204" pitchFamily="18" charset="0"/>
              <a:cs typeface="Times New Roman" panose="020205030504050903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altLang="en-US" dirty="0">
                <a:latin typeface="Cambria" panose="02040503050406030204" pitchFamily="18" charset="0"/>
                <a:ea typeface="Cambria" panose="02040503050406030204" pitchFamily="18" charset="0"/>
              </a:rPr>
              <a:t>    </a:t>
            </a:r>
          </a:p>
          <a:p>
            <a:pPr marL="342900" lvl="0" indent="-190500" algn="just" rtl="0">
              <a:spcBef>
                <a:spcPts val="0"/>
              </a:spcBef>
              <a:spcAft>
                <a:spcPts val="0"/>
              </a:spcAft>
              <a:buClr>
                <a:schemeClr val="dk1"/>
              </a:buClr>
              <a:buSzPct val="100000"/>
              <a:buNone/>
            </a:pPr>
            <a:endParaRPr lang="en-US" altLang="en-US" dirty="0">
              <a:latin typeface="Cambria" panose="02040503050406030204" pitchFamily="18" charset="0"/>
              <a:ea typeface="Cambria" panose="02040503050406030204" pitchFamily="18" charset="0"/>
            </a:endParaRPr>
          </a:p>
        </p:txBody>
      </p:sp>
      <p:pic>
        <p:nvPicPr>
          <p:cNvPr id="2" name="Picture 1" descr="Screenshot 2026-01-16 at 12.25.16 PM"/>
          <p:cNvPicPr>
            <a:picLocks noChangeAspect="1"/>
          </p:cNvPicPr>
          <p:nvPr/>
        </p:nvPicPr>
        <p:blipFill>
          <a:blip r:embed="rId3"/>
          <a:stretch>
            <a:fillRect/>
          </a:stretch>
        </p:blipFill>
        <p:spPr>
          <a:xfrm>
            <a:off x="990600" y="1009015"/>
            <a:ext cx="10210800" cy="45624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7620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635525" y="952500"/>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altLang="en-US" sz="1800" dirty="0">
              <a:latin typeface="Times New Roman" panose="02020603050405020304" pitchFamily="18" charset="0"/>
              <a:ea typeface="Cambria" panose="02040503050406030204" pitchFamily="18" charset="0"/>
              <a:cs typeface="Times New Roman" panose="02020603050405020304" pitchFamily="18" charset="0"/>
            </a:endParaRPr>
          </a:p>
          <a:p>
            <a:pPr marL="76200" indent="0">
              <a:buNone/>
            </a:pPr>
            <a:r>
              <a:rPr lang="en-US" sz="1800" dirty="0">
                <a:latin typeface="Times New Roman" panose="02020603050405020304" pitchFamily="18" charset="0"/>
                <a:cs typeface="Times New Roman" panose="02020603050405020304" pitchFamily="18" charset="0"/>
              </a:rPr>
              <a:t>[1] National Disaster Management Authority (NDMA), </a:t>
            </a:r>
            <a:r>
              <a:rPr lang="en-US" sz="1800" i="1" dirty="0">
                <a:latin typeface="Times New Roman" panose="02020603050405020304" pitchFamily="18" charset="0"/>
                <a:cs typeface="Times New Roman" panose="02020603050405020304" pitchFamily="18" charset="0"/>
              </a:rPr>
              <a:t>School Safety Guidelines</a:t>
            </a:r>
            <a:r>
              <a:rPr lang="en-US" sz="1800" dirty="0">
                <a:latin typeface="Times New Roman" panose="02020603050405020304" pitchFamily="18" charset="0"/>
                <a:cs typeface="Times New Roman" panose="02020603050405020304" pitchFamily="18" charset="0"/>
              </a:rPr>
              <a:t>, Government of India, New Delhi, India, 2016. </a:t>
            </a:r>
          </a:p>
          <a:p>
            <a:pPr marL="76200" indent="0">
              <a:buNone/>
            </a:pPr>
            <a:endParaRPr lang="en-US" sz="1800" dirty="0">
              <a:latin typeface="Times New Roman" panose="02020603050405020304" pitchFamily="18" charset="0"/>
              <a:cs typeface="Times New Roman" panose="02020603050405020304" pitchFamily="18" charset="0"/>
            </a:endParaRPr>
          </a:p>
          <a:p>
            <a:pPr marL="76200" indent="0">
              <a:buNone/>
            </a:pPr>
            <a:r>
              <a:rPr lang="en-US" sz="1800" dirty="0">
                <a:latin typeface="Times New Roman" panose="02020603050405020304" pitchFamily="18" charset="0"/>
                <a:cs typeface="Times New Roman" panose="02020603050405020304" pitchFamily="18" charset="0"/>
              </a:rPr>
              <a:t>[2] United Nations Office for Disaster Risk Reduction (UNDRR), </a:t>
            </a:r>
            <a:r>
              <a:rPr lang="en-US" sz="1800" i="1" dirty="0">
                <a:latin typeface="Times New Roman" panose="02020603050405020304" pitchFamily="18" charset="0"/>
                <a:cs typeface="Times New Roman" panose="02020603050405020304" pitchFamily="18" charset="0"/>
              </a:rPr>
              <a:t>Disaster Risk Reduction in Education: A Global Framework</a:t>
            </a:r>
            <a:r>
              <a:rPr lang="en-US" sz="1800" dirty="0">
                <a:latin typeface="Times New Roman" panose="02020603050405020304" pitchFamily="18" charset="0"/>
                <a:cs typeface="Times New Roman" panose="02020603050405020304" pitchFamily="18" charset="0"/>
              </a:rPr>
              <a:t>, United Nations, Geneva, Switzerland, 2017.</a:t>
            </a:r>
          </a:p>
          <a:p>
            <a:pPr marL="76200" indent="0">
              <a:buNone/>
            </a:pPr>
            <a:endParaRPr lang="en-US" sz="1800" dirty="0">
              <a:latin typeface="Times New Roman" panose="02020603050405020304" pitchFamily="18" charset="0"/>
              <a:cs typeface="Times New Roman" panose="02020603050405020304" pitchFamily="18" charset="0"/>
            </a:endParaRPr>
          </a:p>
          <a:p>
            <a:pPr marL="76200" indent="0">
              <a:buNone/>
            </a:pPr>
            <a:r>
              <a:rPr lang="en-US" sz="1800" dirty="0">
                <a:latin typeface="Times New Roman" panose="02020603050405020304" pitchFamily="18" charset="0"/>
                <a:cs typeface="Times New Roman" panose="02020603050405020304" pitchFamily="18" charset="0"/>
              </a:rPr>
              <a:t>[3] A. Shaw, R. Sharma, and P. Gupta, “Integrating disaster preparedness education in schools using digital platforms,” </a:t>
            </a:r>
            <a:r>
              <a:rPr lang="en-US" sz="1800" i="1" dirty="0">
                <a:latin typeface="Times New Roman" panose="02020603050405020304" pitchFamily="18" charset="0"/>
                <a:cs typeface="Times New Roman" panose="02020603050405020304" pitchFamily="18" charset="0"/>
              </a:rPr>
              <a:t>IEEE Access</a:t>
            </a:r>
            <a:r>
              <a:rPr lang="en-US" sz="1800" dirty="0">
                <a:latin typeface="Times New Roman" panose="02020603050405020304" pitchFamily="18" charset="0"/>
                <a:cs typeface="Times New Roman" panose="02020603050405020304" pitchFamily="18" charset="0"/>
              </a:rPr>
              <a:t>, vol. 9, pp. 112345–112356, 2021.</a:t>
            </a:r>
          </a:p>
          <a:p>
            <a:pPr marL="76200" indent="0">
              <a:buNone/>
            </a:pPr>
            <a:endParaRPr lang="en-US" sz="1800" dirty="0">
              <a:latin typeface="Times New Roman" panose="02020603050405020304" pitchFamily="18" charset="0"/>
              <a:cs typeface="Times New Roman" panose="02020603050405020304" pitchFamily="18" charset="0"/>
            </a:endParaRPr>
          </a:p>
          <a:p>
            <a:pPr marL="76200" indent="0">
              <a:buNone/>
            </a:pPr>
            <a:r>
              <a:rPr lang="en-US" sz="1800" dirty="0">
                <a:latin typeface="Times New Roman" panose="02020603050405020304" pitchFamily="18" charset="0"/>
                <a:cs typeface="Times New Roman" panose="02020603050405020304" pitchFamily="18" charset="0"/>
              </a:rPr>
              <a:t>[4] R. Pratiwi, “Developing an education support system for disaster management through an ethnoscience-based digital disaster learning module,” </a:t>
            </a:r>
            <a:r>
              <a:rPr lang="en-US" sz="1800" i="1" dirty="0">
                <a:latin typeface="Times New Roman" panose="02020603050405020304" pitchFamily="18" charset="0"/>
                <a:cs typeface="Times New Roman" panose="02020603050405020304" pitchFamily="18" charset="0"/>
              </a:rPr>
              <a:t>Int. J. Disaster Risk </a:t>
            </a:r>
            <a:r>
              <a:rPr lang="en-US" sz="1800" i="1" dirty="0" err="1">
                <a:latin typeface="Times New Roman" panose="02020603050405020304" pitchFamily="18" charset="0"/>
                <a:cs typeface="Times New Roman" panose="02020603050405020304" pitchFamily="18" charset="0"/>
              </a:rPr>
              <a:t>Reduct</a:t>
            </a:r>
            <a:r>
              <a:rPr lang="en-US" sz="1800" i="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vol. 100, Jan. 2024. </a:t>
            </a:r>
          </a:p>
          <a:p>
            <a:pPr marL="76200" indent="0">
              <a:buNone/>
            </a:pPr>
            <a:endParaRPr lang="en-US" sz="1800" dirty="0">
              <a:latin typeface="Times New Roman" panose="02020603050405020304" pitchFamily="18" charset="0"/>
              <a:cs typeface="Times New Roman" panose="02020603050405020304" pitchFamily="18" charset="0"/>
            </a:endParaRPr>
          </a:p>
          <a:p>
            <a:pPr marL="76200" indent="0">
              <a:buNone/>
            </a:pPr>
            <a:r>
              <a:rPr lang="en-US" sz="1800" dirty="0">
                <a:latin typeface="Times New Roman" panose="02020603050405020304" pitchFamily="18" charset="0"/>
                <a:cs typeface="Times New Roman" panose="02020603050405020304" pitchFamily="18" charset="0"/>
              </a:rPr>
              <a:t>[5] K. X. Author, “National School Safety Policy and disaster preparedness in educational institutions,” </a:t>
            </a:r>
            <a:r>
              <a:rPr lang="en-US" sz="1800" i="1" dirty="0">
                <a:latin typeface="Times New Roman" panose="02020603050405020304" pitchFamily="18" charset="0"/>
                <a:cs typeface="Times New Roman" panose="02020603050405020304" pitchFamily="18" charset="0"/>
              </a:rPr>
              <a:t>Govt. of India Report</a:t>
            </a:r>
            <a:r>
              <a:rPr lang="en-US" sz="1800" dirty="0">
                <a:latin typeface="Times New Roman" panose="02020603050405020304" pitchFamily="18" charset="0"/>
                <a:cs typeface="Times New Roman" panose="02020603050405020304" pitchFamily="18" charset="0"/>
              </a:rPr>
              <a:t>, 2024.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911</Words>
  <Application>Microsoft Office PowerPoint</Application>
  <PresentationFormat>Widescreen</PresentationFormat>
  <Paragraphs>111</Paragraphs>
  <Slides>13</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Cambria</vt:lpstr>
      <vt:lpstr>Times New Roman</vt:lpstr>
      <vt:lpstr>Verdana</vt:lpstr>
      <vt:lpstr>Wingdings</vt:lpstr>
      <vt:lpstr>Bioinformatics</vt:lpstr>
      <vt:lpstr>Disaster Preparedness and Response Education System for Schools and Colleges</vt:lpstr>
      <vt:lpstr>Problem Statement Number: SIH25008</vt:lpstr>
      <vt:lpstr> Objectives </vt:lpstr>
      <vt:lpstr>Background and Related Work</vt:lpstr>
      <vt:lpstr>Analysis of Problem Statement</vt:lpstr>
      <vt:lpstr>Analysis of Problem Statement (contd…)</vt:lpstr>
      <vt:lpstr>Analysis of Problem Statement (contd...)</vt:lpstr>
      <vt:lpstr>SDG Mapping</vt:lpstr>
      <vt:lpstr>Innovation or Novel Contributions</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VARSHA B</cp:lastModifiedBy>
  <cp:revision>50</cp:revision>
  <dcterms:created xsi:type="dcterms:W3CDTF">2026-01-16T06:56:34Z</dcterms:created>
  <dcterms:modified xsi:type="dcterms:W3CDTF">2026-04-23T10:28:20Z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DB97C8B86F65D97F5C655F69DCBFD11B_42</vt:lpwstr>
  </property>
  <property fmtid="{D5CDD505-2E9C-101B-9397-08002B2CF9AE}" pid="3" name="KSOProductBuildVer">
    <vt:lpwstr>1033-12.1.23153.23153</vt:lpwstr>
  </property>
</Properties>
</file>