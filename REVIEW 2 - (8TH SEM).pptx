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80" r:id="rId20"/>
    <p:sldId id="281" r:id="rId21"/>
    <p:sldId id="282" r:id="rId22"/>
    <p:sldId id="275" r:id="rId6"/>
    <p:sldId id="276" r:id="rId7"/>
    <p:sldId id="279" r:id="rId8"/>
    <p:sldId id="273" r:id="rId9"/>
    <p:sldId id="272" r:id="rId10"/>
    <p:sldId id="278" r:id="rId11"/>
    <p:sldId id="277" r:id="rId12"/>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23" autoAdjust="0"/>
    <p:restoredTop sz="94660"/>
  </p:normalViewPr>
  <p:slideViewPr>
    <p:cSldViewPr snapToGrid="0">
      <p:cViewPr varScale="1">
        <p:scale>
          <a:sx n="73" d="100"/>
          <a:sy n="73" d="100"/>
        </p:scale>
        <p:origin x="67" y="173"/>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3.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8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8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8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8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8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8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8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804030504040204"/>
              <a:buNone/>
              <a:defRPr sz="2800" b="1" i="0" u="none" strike="noStrike" cap="none">
                <a:solidFill>
                  <a:srgbClr val="FF0000"/>
                </a:solidFill>
                <a:latin typeface="Verdana" panose="020B0804030504040204"/>
                <a:ea typeface="Verdana" panose="020B0804030504040204"/>
                <a:cs typeface="Verdana" panose="020B0804030504040204"/>
                <a:sym typeface="Verdana" panose="020B08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90204"/>
              <a:buChar char="•"/>
              <a:defRPr sz="2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1pPr>
            <a:lvl2pPr marL="914400" marR="0" lvl="1"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L="1371600" marR="0" lvl="2" indent="-342900" algn="l" rtl="0">
              <a:spcBef>
                <a:spcPts val="360"/>
              </a:spcBef>
              <a:spcAft>
                <a:spcPts val="0"/>
              </a:spcAft>
              <a:buClr>
                <a:schemeClr val="dk1"/>
              </a:buClr>
              <a:buSzPts val="1800"/>
              <a:buFont typeface="Arial" panose="020B0604020202090204"/>
              <a:buChar char="•"/>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L="1828800" marR="0" lvl="3" indent="-330200" algn="l" rtl="0">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L="2286000" marR="0" lvl="4" indent="-330200" algn="l" rtl="0">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L="2743200" marR="0" lvl="5"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L="0" marR="0" lvl="1"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2pPr>
            <a:lvl3pPr marL="0" marR="0" lvl="2"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3pPr>
            <a:lvl4pPr marL="0" marR="0" lvl="3"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4pPr>
            <a:lvl5pPr marL="0" marR="0" lvl="4"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5pPr>
            <a:lvl6pPr marL="0" marR="0" lvl="5"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6pPr>
            <a:lvl7pPr marL="0" marR="0" lvl="6"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7pPr>
            <a:lvl8pPr marL="0" marR="0" lvl="7"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8pPr>
            <a:lvl9pPr marL="0" marR="0" lvl="8"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546628" y="908784"/>
            <a:ext cx="10974812"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804030504040204"/>
              <a:buNone/>
            </a:pPr>
            <a:r>
              <a:rPr lang="en-US" altLang="en-US" sz="2600" dirty="0">
                <a:solidFill>
                  <a:schemeClr val="tx1"/>
                </a:solidFill>
                <a:latin typeface="Times New Roman" panose="02020503050405090304" pitchFamily="18" charset="0"/>
                <a:ea typeface="Cambria" panose="02040503050406030204" pitchFamily="18" charset="0"/>
                <a:cs typeface="Times New Roman" panose="02020503050405090304" pitchFamily="18" charset="0"/>
              </a:rPr>
              <a:t>Disaster Preparedness and Response Education System for Schools and Colleges</a:t>
            </a:r>
            <a:endParaRPr lang="en-US" altLang="en-US" sz="2600" dirty="0">
              <a:solidFill>
                <a:schemeClr val="tx1"/>
              </a:solidFill>
              <a:latin typeface="Times New Roman" panose="02020503050405090304" pitchFamily="18" charset="0"/>
              <a:ea typeface="Cambria" panose="02040503050406030204" pitchFamily="18" charset="0"/>
              <a:cs typeface="Times New Roman" panose="02020503050405090304" pitchFamily="18" charset="0"/>
            </a:endParaRPr>
          </a:p>
        </p:txBody>
      </p:sp>
      <p:sp>
        <p:nvSpPr>
          <p:cNvPr id="88" name="Google Shape;88;p13"/>
          <p:cNvSpPr txBox="1">
            <a:spLocks noGrp="1"/>
          </p:cNvSpPr>
          <p:nvPr>
            <p:ph type="subTitle" idx="1"/>
          </p:nvPr>
        </p:nvSpPr>
        <p:spPr>
          <a:xfrm>
            <a:off x="790469" y="1956388"/>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Times New Roman" panose="02020503050405090304" pitchFamily="18" charset="0"/>
                <a:ea typeface="Cambria" panose="02040503050406030204" pitchFamily="18" charset="0"/>
                <a:cs typeface="Times New Roman" panose="02020503050405090304" pitchFamily="18" charset="0"/>
              </a:rPr>
              <a:t>Batch Number:</a:t>
            </a:r>
            <a:r>
              <a:rPr lang="en-US" altLang="en-GB" dirty="0">
                <a:latin typeface="Times New Roman" panose="02020503050405090304" pitchFamily="18" charset="0"/>
                <a:ea typeface="Cambria" panose="02040503050406030204" pitchFamily="18" charset="0"/>
                <a:cs typeface="Times New Roman" panose="02020503050405090304" pitchFamily="18" charset="0"/>
              </a:rPr>
              <a:t xml:space="preserve"> IST_6</a:t>
            </a:r>
            <a:endParaRPr lang="en-US" altLang="en-GB" dirty="0">
              <a:latin typeface="Times New Roman" panose="02020503050405090304" pitchFamily="18" charset="0"/>
              <a:ea typeface="Cambria" panose="02040503050406030204" pitchFamily="18" charset="0"/>
              <a:cs typeface="Times New Roman" panose="02020503050405090304" pitchFamily="18" charset="0"/>
            </a:endParaRPr>
          </a:p>
        </p:txBody>
      </p:sp>
      <p:sp>
        <p:nvSpPr>
          <p:cNvPr id="90" name="Google Shape;90;p13"/>
          <p:cNvSpPr txBox="1"/>
          <p:nvPr/>
        </p:nvSpPr>
        <p:spPr>
          <a:xfrm>
            <a:off x="6432180" y="2282870"/>
            <a:ext cx="5321215" cy="2169684"/>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9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Under the Supervision of,</a:t>
            </a:r>
            <a:endParaRPr lang="en-GB" sz="18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endParaRPr>
          </a:p>
          <a:p>
            <a:pPr marL="0" marR="0" lvl="0" indent="0" algn="ctr" rtl="0">
              <a:spcBef>
                <a:spcPts val="400"/>
              </a:spcBef>
              <a:spcAft>
                <a:spcPts val="0"/>
              </a:spcAft>
              <a:buClr>
                <a:srgbClr val="17365D"/>
              </a:buClr>
              <a:buSzPts val="2000"/>
              <a:buFont typeface="Arial" panose="020B0604020202090204"/>
              <a:buNone/>
            </a:pPr>
            <a:r>
              <a:rPr lang="en-IN" sz="1800" b="1" dirty="0" err="1">
                <a:latin typeface="Cambria" panose="02040503050406030204" pitchFamily="18" charset="0"/>
                <a:ea typeface="Cambria" panose="02040503050406030204" pitchFamily="18" charset="0"/>
              </a:rPr>
              <a:t>Dr.Poornima</a:t>
            </a:r>
            <a:r>
              <a:rPr lang="en-IN" sz="1800" b="1">
                <a:latin typeface="Cambria" panose="02040503050406030204" pitchFamily="18" charset="0"/>
                <a:ea typeface="Cambria" panose="02040503050406030204" pitchFamily="18" charset="0"/>
              </a:rPr>
              <a:t xml:space="preserve"> S</a:t>
            </a:r>
            <a:endParaRPr lang="en-IN"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9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endParaRPr>
          </a:p>
        </p:txBody>
      </p:sp>
      <p:graphicFrame>
        <p:nvGraphicFramePr>
          <p:cNvPr id="89" name="Google Shape;89;p13"/>
          <p:cNvGraphicFramePr/>
          <p:nvPr/>
        </p:nvGraphicFramePr>
        <p:xfrm>
          <a:off x="320548" y="2508688"/>
          <a:ext cx="5514340" cy="2025211"/>
        </p:xfrm>
        <a:graphic>
          <a:graphicData uri="http://schemas.openxmlformats.org/drawingml/2006/table">
            <a:tbl>
              <a:tblPr firstRow="1" bandRow="1">
                <a:noFill/>
                <a:tableStyleId>{57690726-49DA-4552-BDEB-330DD8EA8BD9}</a:tableStyleId>
              </a:tblPr>
              <a:tblGrid>
                <a:gridCol w="2315447"/>
                <a:gridCol w="3198893"/>
              </a:tblGrid>
              <a:tr h="426362">
                <a:tc>
                  <a:txBody>
                    <a:bodyPr/>
                    <a:lstStyle/>
                    <a:p>
                      <a:pPr marL="0" marR="0" lvl="1"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26362">
                <a:tc>
                  <a:txBody>
                    <a:bodyPr/>
                    <a:lstStyle/>
                    <a:p>
                      <a:pPr marL="0" marR="0" lvl="0" indent="0" algn="ctr" rtl="0">
                        <a:spcBef>
                          <a:spcPts val="0"/>
                        </a:spcBef>
                        <a:spcAft>
                          <a:spcPts val="0"/>
                        </a:spcAft>
                        <a:buFont typeface="+mj-lt"/>
                        <a:buNone/>
                      </a:pPr>
                      <a:endParaRPr lang="en-IN"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26362">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746125">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90204"/>
              <a:buNone/>
            </a:pPr>
            <a:r>
              <a:rPr 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CSE7</a:t>
            </a:r>
            <a:r>
              <a:rPr lang="en-US" alt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302</a:t>
            </a:r>
            <a:r>
              <a:rPr 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xml:space="preserve"> </a:t>
            </a:r>
            <a:r>
              <a:rPr lang="en-US" alt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University</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xml:space="preserve"> Project</a:t>
            </a:r>
            <a:endParaRPr sz="20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9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Review - 2</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endParaRPr>
          </a:p>
        </p:txBody>
      </p:sp>
      <p:sp>
        <p:nvSpPr>
          <p:cNvPr id="8" name="Google Shape;91;p13"/>
          <p:cNvSpPr txBox="1"/>
          <p:nvPr/>
        </p:nvSpPr>
        <p:spPr>
          <a:xfrm>
            <a:off x="0" y="4533900"/>
            <a:ext cx="12331700"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9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 xml:space="preserve">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endParaRPr>
          </a:p>
          <a:p>
            <a:pPr marL="0" marR="0" lvl="0" indent="0" rtl="0">
              <a:spcBef>
                <a:spcPts val="0"/>
              </a:spcBef>
              <a:spcAft>
                <a:spcPts val="0"/>
              </a:spcAft>
              <a:buClr>
                <a:srgbClr val="17365D"/>
              </a:buClr>
              <a:buSzPct val="100000"/>
              <a:buFont typeface="Arial" panose="020B0604020202090204"/>
              <a:buNone/>
            </a:pPr>
            <a:r>
              <a:rPr lang="en-US" sz="1800" b="1"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 xml:space="preserve">Name of the HoD: </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Dr.Pallavi R</a:t>
            </a:r>
            <a:endPar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endParaRP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 xml:space="preserve">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xml:space="preserve">Ms. Benitha </a:t>
            </a:r>
            <a:r>
              <a:rPr lang="en-US" sz="1800" b="1"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Christinal</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xml:space="preserve"> J</a:t>
            </a:r>
            <a:endPar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 xml:space="preserve">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xml:space="preserve">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xml:space="preserve">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xml:space="preserve">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endParaRPr>
          </a:p>
        </p:txBody>
      </p:sp>
      <p:graphicFrame>
        <p:nvGraphicFramePr>
          <p:cNvPr id="3" name="Table 2"/>
          <p:cNvGraphicFramePr/>
          <p:nvPr/>
        </p:nvGraphicFramePr>
        <p:xfrm>
          <a:off x="242595" y="2508688"/>
          <a:ext cx="6036285" cy="1940506"/>
        </p:xfrm>
        <a:graphic>
          <a:graphicData uri="http://schemas.openxmlformats.org/drawingml/2006/table">
            <a:tbl>
              <a:tblPr firstRow="1" bandRow="1">
                <a:tableStyleId>{5C22544A-7EE6-4342-B048-85BDC9FD1C3A}</a:tableStyleId>
              </a:tblPr>
              <a:tblGrid>
                <a:gridCol w="2640875"/>
                <a:gridCol w="3395410"/>
              </a:tblGrid>
              <a:tr h="371555">
                <a:tc>
                  <a:txBody>
                    <a:bodyPr/>
                    <a:lstStyle/>
                    <a:p>
                      <a:pPr>
                        <a:buNone/>
                      </a:pPr>
                      <a:r>
                        <a:rPr lang="en-US" sz="1800" b="1" dirty="0">
                          <a:latin typeface="Cambria" panose="02040503050406030204" pitchFamily="18" charset="0"/>
                          <a:ea typeface="Cambria" panose="02040503050406030204" pitchFamily="18" charset="0"/>
                        </a:rPr>
                        <a:t>ROLL NUMBER</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sz="1800" b="1" dirty="0">
                          <a:latin typeface="Cambria" panose="02040503050406030204" pitchFamily="18" charset="0"/>
                          <a:ea typeface="Cambria" panose="02040503050406030204" pitchFamily="18" charset="0"/>
                        </a:rPr>
                        <a:t xml:space="preserve">NAME </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r>
              <a:tr h="371555">
                <a:tc>
                  <a:txBody>
                    <a:bodyPr/>
                    <a:lstStyle/>
                    <a:p>
                      <a:pPr>
                        <a:buNone/>
                      </a:pPr>
                      <a:r>
                        <a:rPr lang="en-US" sz="1800" b="1" dirty="0">
                          <a:latin typeface="Cambria" panose="02040503050406030204" pitchFamily="18" charset="0"/>
                          <a:ea typeface="Cambria" panose="02040503050406030204" pitchFamily="18" charset="0"/>
                        </a:rPr>
                        <a:t>20221IST0036</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sz="1800" b="1" dirty="0">
                          <a:latin typeface="Cambria" panose="02040503050406030204" pitchFamily="18" charset="0"/>
                          <a:ea typeface="Cambria" panose="02040503050406030204" pitchFamily="18" charset="0"/>
                        </a:rPr>
                        <a:t>VARSHA B</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r>
              <a:tr h="370816">
                <a:tc>
                  <a:txBody>
                    <a:bodyPr/>
                    <a:lstStyle/>
                    <a:p>
                      <a:pPr>
                        <a:buNone/>
                      </a:pPr>
                      <a:r>
                        <a:rPr lang="en-US" sz="1800" b="1" dirty="0">
                          <a:latin typeface="Cambria" panose="02040503050406030204" pitchFamily="18" charset="0"/>
                          <a:ea typeface="Cambria" panose="02040503050406030204" pitchFamily="18" charset="0"/>
                        </a:rPr>
                        <a:t>20221IST0034</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altLang="en-US" sz="1800" b="1" dirty="0">
                          <a:latin typeface="Cambria" panose="02040503050406030204" pitchFamily="18" charset="0"/>
                          <a:ea typeface="Cambria" panose="02040503050406030204" pitchFamily="18" charset="0"/>
                        </a:rPr>
                        <a:t>MOUNIKA.M</a:t>
                      </a:r>
                      <a:endParaRPr lang="en-US" alt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r>
              <a:tr h="826580">
                <a:tc>
                  <a:txBody>
                    <a:bodyPr/>
                    <a:lstStyle/>
                    <a:p>
                      <a:pPr>
                        <a:buNone/>
                      </a:pPr>
                      <a:r>
                        <a:rPr lang="en-US" sz="1800" b="1" dirty="0">
                          <a:latin typeface="Cambria" panose="02040503050406030204" pitchFamily="18" charset="0"/>
                          <a:ea typeface="Cambria" panose="02040503050406030204" pitchFamily="18" charset="0"/>
                        </a:rPr>
                        <a:t>20221IST0007</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altLang="en-US" sz="1800" b="1" dirty="0">
                          <a:latin typeface="Cambria" panose="02040503050406030204" pitchFamily="18" charset="0"/>
                          <a:ea typeface="Cambria" panose="02040503050406030204" pitchFamily="18" charset="0"/>
                        </a:rPr>
                        <a:t>MALLAKALUVA HEMANTH REDDY</a:t>
                      </a:r>
                      <a:endParaRPr lang="en-US" alt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35" y="139960"/>
            <a:ext cx="10890897" cy="541176"/>
          </a:xfrm>
        </p:spPr>
        <p:txBody>
          <a:bodyPr/>
          <a:lstStyle/>
          <a:p>
            <a:br>
              <a:rPr lang="en-US" altLang="en-US" dirty="0">
                <a:latin typeface="Times New Roman" panose="02020503050405090304" pitchFamily="18" charset="0"/>
                <a:cs typeface="Times New Roman" panose="02020503050405090304" pitchFamily="18" charset="0"/>
              </a:rPr>
            </a:br>
            <a:r>
              <a:rPr lang="en-US" altLang="en-US" dirty="0">
                <a:latin typeface="Times New Roman" panose="02020503050405090304" pitchFamily="18" charset="0"/>
                <a:cs typeface="Times New Roman" panose="02020503050405090304" pitchFamily="18" charset="0"/>
              </a:rPr>
              <a:t>Objectives</a:t>
            </a:r>
            <a:br>
              <a:rPr lang="en-US" altLang="en-US" dirty="0">
                <a:latin typeface="Times New Roman" panose="02020503050405090304" pitchFamily="18" charset="0"/>
                <a:cs typeface="Times New Roman" panose="02020503050405090304" pitchFamily="18" charset="0"/>
              </a:rPr>
            </a:br>
            <a:endParaRPr lang="en-US" dirty="0"/>
          </a:p>
        </p:txBody>
      </p:sp>
      <p:sp>
        <p:nvSpPr>
          <p:cNvPr id="3" name="Text Placeholder 2"/>
          <p:cNvSpPr>
            <a:spLocks noGrp="1"/>
          </p:cNvSpPr>
          <p:nvPr>
            <p:ph type="body" idx="1"/>
          </p:nvPr>
        </p:nvSpPr>
        <p:spPr>
          <a:xfrm>
            <a:off x="579535" y="952500"/>
            <a:ext cx="10668000" cy="4953000"/>
          </a:xfrm>
        </p:spPr>
        <p:txBody>
          <a:bodyPr>
            <a:noAutofit/>
          </a:bodyPr>
          <a:lstStyle/>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develop a digital disaster preparedness education system for schools and colleges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provide interactive learning modules for multiple disaster types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enable virtual drills and disaster simulations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deliver region-specific disaster alerts and safety instructions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assist institutions in tracking preparedness levels and drill participation</a:t>
            </a:r>
            <a:endParaRPr lang="en-US" altLang="en-US" sz="1800" dirty="0">
              <a:latin typeface="Times New Roman" panose="02020503050405090304" pitchFamily="18" charset="0"/>
              <a:cs typeface="Times New Roman" panose="02020503050405090304" pitchFamily="18" charset="0"/>
            </a:endParaRPr>
          </a:p>
        </p:txBody>
      </p:sp>
      <p:sp>
        <p:nvSpPr>
          <p:cNvPr id="4" name="Text Box 3"/>
          <p:cNvSpPr txBox="1"/>
          <p:nvPr/>
        </p:nvSpPr>
        <p:spPr>
          <a:xfrm>
            <a:off x="2515235" y="4290060"/>
            <a:ext cx="4064000" cy="306705"/>
          </a:xfrm>
          <a:prstGeom prst="rect">
            <a:avLst/>
          </a:prstGeom>
          <a:noFill/>
        </p:spPr>
        <p:txBody>
          <a:bodyPr wrap="square" rtlCol="0">
            <a:spAutoFit/>
          </a:bodyPr>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714" y="293299"/>
            <a:ext cx="10668000" cy="487500"/>
          </a:xfrm>
        </p:spPr>
        <p:txBody>
          <a:bodyPr/>
          <a:lstStyle/>
          <a:p>
            <a:r>
              <a:rPr lang="en-US" dirty="0">
                <a:latin typeface="Times New Roman" panose="02020503050405090304" pitchFamily="18" charset="0"/>
                <a:cs typeface="Times New Roman" panose="02020503050405090304" pitchFamily="18" charset="0"/>
              </a:rPr>
              <a:t>Background and Related Work</a:t>
            </a:r>
            <a:endParaRPr lang="en-US" dirty="0">
              <a:latin typeface="Times New Roman" panose="02020503050405090304" pitchFamily="18" charset="0"/>
              <a:cs typeface="Times New Roman" panose="02020503050405090304" pitchFamily="18" charset="0"/>
            </a:endParaRPr>
          </a:p>
        </p:txBody>
      </p:sp>
      <p:sp>
        <p:nvSpPr>
          <p:cNvPr id="3" name="Text Placeholder 2"/>
          <p:cNvSpPr>
            <a:spLocks noGrp="1"/>
          </p:cNvSpPr>
          <p:nvPr>
            <p:ph type="body" idx="1"/>
          </p:nvPr>
        </p:nvSpPr>
        <p:spPr>
          <a:xfrm>
            <a:off x="660193" y="853460"/>
            <a:ext cx="10434734" cy="5471865"/>
          </a:xfrm>
        </p:spPr>
        <p:txBody>
          <a:bodyPr>
            <a:noAutofit/>
          </a:bodyPr>
          <a:lstStyle/>
          <a:p>
            <a:pPr marL="76200" indent="0">
              <a:lnSpc>
                <a:spcPct val="150000"/>
              </a:lnSpc>
              <a:buNone/>
            </a:pPr>
            <a:r>
              <a:rPr lang="en-US" sz="1900" b="1" dirty="0">
                <a:latin typeface="Times New Roman" panose="02020503050405090304" pitchFamily="18" charset="0"/>
                <a:cs typeface="Times New Roman" panose="02020503050405090304" pitchFamily="18" charset="0"/>
              </a:rPr>
              <a:t>Background</a:t>
            </a:r>
            <a:endParaRPr lang="en-US" sz="1900" b="1" dirty="0">
              <a:latin typeface="Times New Roman" panose="02020503050405090304" pitchFamily="18" charset="0"/>
              <a:cs typeface="Times New Roman" panose="02020503050405090304" pitchFamily="18" charset="0"/>
            </a:endParaRPr>
          </a:p>
          <a:p>
            <a:pPr marL="76200" indent="0">
              <a:lnSpc>
                <a:spcPct val="150000"/>
              </a:lnSpc>
              <a:buNone/>
            </a:pPr>
            <a:r>
              <a:rPr lang="en-US" altLang="en-US" sz="1800" dirty="0">
                <a:latin typeface="Times New Roman" panose="02020503050405090304" pitchFamily="18" charset="0"/>
                <a:cs typeface="Times New Roman" panose="02020503050405090304" pitchFamily="18" charset="0"/>
              </a:rPr>
              <a:t>India ranks high in global disaster vulnerability indexes. However, disaster education in schools and colleges is limited to theory or occasional awareness programs. Students and staff lack hands-on training and real-time guidance mechanisms during emergencies. There is a strong need for an integrated, technology-driven disaster preparedness system that can educate, simulate, and guide users effectively.</a:t>
            </a:r>
            <a:endParaRPr lang="en-US" altLang="en-US" sz="1800" dirty="0">
              <a:latin typeface="Times New Roman" panose="02020503050405090304" pitchFamily="18" charset="0"/>
              <a:cs typeface="Times New Roman" panose="02020503050405090304" pitchFamily="18" charset="0"/>
            </a:endParaRPr>
          </a:p>
          <a:p>
            <a:pPr marL="76200" indent="0">
              <a:lnSpc>
                <a:spcPct val="150000"/>
              </a:lnSpc>
              <a:buNone/>
            </a:pPr>
            <a:r>
              <a:rPr lang="en-US" altLang="en-US" sz="1800" b="1" dirty="0">
                <a:latin typeface="Times New Roman" panose="02020503050405090304" pitchFamily="18" charset="0"/>
                <a:cs typeface="Times New Roman" panose="02020503050405090304" pitchFamily="18" charset="0"/>
              </a:rPr>
              <a:t>Related Work</a:t>
            </a:r>
            <a:endParaRPr lang="en-US" altLang="en-US" sz="1800" b="1" dirty="0">
              <a:latin typeface="Times New Roman" panose="02020503050405090304" pitchFamily="18" charset="0"/>
              <a:cs typeface="Times New Roman" panose="02020503050405090304" pitchFamily="18" charset="0"/>
            </a:endParaRPr>
          </a:p>
          <a:p>
            <a:pPr marL="76200" indent="0">
              <a:lnSpc>
                <a:spcPct val="150000"/>
              </a:lnSpc>
              <a:buNone/>
            </a:pPr>
            <a:r>
              <a:rPr lang="en-US" altLang="en-US" sz="1800" dirty="0">
                <a:latin typeface="Times New Roman" panose="02020503050405090304" pitchFamily="18" charset="0"/>
                <a:cs typeface="Times New Roman" panose="02020503050405090304" pitchFamily="18" charset="0"/>
              </a:rPr>
              <a:t>Existing disaster management systems focus mainly on post-disaster response rather than preparedness education. Some platforms provide static content or manuals, while others focus on government-level response systems. These solutions do not cater specifically to educational institutions and lack interactive learning, simulations, and preparedness analytics. Research suggests that digital and simulation-based disaster education significantly improves emergency response efficiency.</a:t>
            </a:r>
            <a:endParaRPr lang="en-US" altLang="en-US" sz="18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503050405090304" pitchFamily="18" charset="0"/>
                <a:ea typeface="Cambria" panose="02040503050406030204" pitchFamily="18" charset="0"/>
                <a:cs typeface="Times New Roman" panose="02020503050405090304" pitchFamily="18" charset="0"/>
              </a:rPr>
              <a:t>Proposed Method &amp; Feasibility</a:t>
            </a:r>
            <a:endParaRPr lang="en-US" dirty="0">
              <a:latin typeface="Times New Roman" panose="02020503050405090304" pitchFamily="18" charset="0"/>
              <a:ea typeface="Cambria" panose="02040503050406030204" pitchFamily="18" charset="0"/>
              <a:cs typeface="Times New Roman" panose="02020503050405090304" pitchFamily="18" charset="0"/>
            </a:endParaRPr>
          </a:p>
        </p:txBody>
      </p:sp>
      <p:sp>
        <p:nvSpPr>
          <p:cNvPr id="115" name="Google Shape;115;p17"/>
          <p:cNvSpPr txBox="1">
            <a:spLocks noGrp="1"/>
          </p:cNvSpPr>
          <p:nvPr>
            <p:ph type="body" idx="1"/>
          </p:nvPr>
        </p:nvSpPr>
        <p:spPr>
          <a:xfrm>
            <a:off x="762000" y="952500"/>
            <a:ext cx="10668000" cy="4953000"/>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sz="1900" b="1" dirty="0">
                <a:latin typeface="Times New Roman" panose="02020503050405090304" pitchFamily="18" charset="0"/>
                <a:cs typeface="Times New Roman" panose="02020503050405090304" pitchFamily="18" charset="0"/>
              </a:rPr>
              <a:t>ANALYSIS OF THE PROBLEM</a:t>
            </a:r>
            <a:endParaRPr lang="en-US" sz="1900" b="1" dirty="0">
              <a:latin typeface="Times New Roman" panose="02020503050405090304" pitchFamily="18" charset="0"/>
              <a:cs typeface="Times New Roman" panose="02020503050405090304" pitchFamily="18" charset="0"/>
            </a:endParaRPr>
          </a:p>
          <a:p>
            <a:pPr marL="76200" indent="0">
              <a:buNone/>
            </a:pPr>
            <a:endParaRPr lang="en-US" sz="1800" b="1"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Lack of structured disaster preparedness education in institutions</a:t>
            </a:r>
            <a:endParaRPr lang="en-US" altLang="en-US" sz="19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Low student engagement with traditional awareness programs</a:t>
            </a:r>
            <a:endParaRPr lang="en-US" altLang="en-US" sz="19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Absence of virtual drills and simulations</a:t>
            </a:r>
            <a:endParaRPr lang="en-US" altLang="en-US" sz="19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No centralized system for monitoring preparedness levels</a:t>
            </a:r>
            <a:endParaRPr lang="en-US" altLang="en-US" sz="19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Poor region-specific disaster awareness</a:t>
            </a:r>
            <a:endParaRPr lang="en-US" altLang="en-US" sz="19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endParaRPr lang="en-US" sz="1900" dirty="0">
              <a:latin typeface="Times New Roman" panose="02020503050405090304" pitchFamily="18" charset="0"/>
              <a:cs typeface="Times New Roman" panose="02020503050405090304" pitchFamily="18" charset="0"/>
            </a:endParaRPr>
          </a:p>
          <a:p>
            <a:pPr marL="76200" indent="0">
              <a:buNone/>
            </a:pPr>
            <a:r>
              <a:rPr lang="en-US" altLang="en-US" sz="1800" dirty="0">
                <a:latin typeface="Times New Roman" panose="02020503050405090304" pitchFamily="18" charset="0"/>
                <a:cs typeface="Times New Roman" panose="02020503050405090304" pitchFamily="18" charset="0"/>
              </a:rPr>
              <a:t xml:space="preserve"> </a:t>
            </a:r>
            <a:r>
              <a:rPr lang="en-US" altLang="en-US" sz="1900" b="1" dirty="0">
                <a:latin typeface="Times New Roman" panose="02020503050405090304" pitchFamily="18" charset="0"/>
                <a:cs typeface="Times New Roman" panose="02020503050405090304" pitchFamily="18" charset="0"/>
              </a:rPr>
              <a:t>PROPOSED SOLUTION</a:t>
            </a:r>
            <a:endParaRPr lang="en-US" altLang="en-US" sz="1900" b="1" dirty="0">
              <a:latin typeface="Times New Roman" panose="02020503050405090304" pitchFamily="18" charset="0"/>
              <a:cs typeface="Times New Roman" panose="02020503050405090304" pitchFamily="18" charset="0"/>
            </a:endParaRPr>
          </a:p>
          <a:p>
            <a:pPr marL="76200" indent="0">
              <a:buFont typeface="Wingdings" panose="05000000000000000000" pitchFamily="2" charset="2"/>
              <a:buNone/>
            </a:pP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Provide interactive disaster-specific learning modules</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Conduct virtual drills and simulated emergency scenarios</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Enable real-time alerts and safety instructions</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Provide dashboards for institutional preparedness monitoring</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sym typeface="+mn-ea"/>
              </a:rPr>
              <a:t>Develop a digital disaster preparedness education platform with comprehensive feasibility analysis</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endParaRPr lang="en-US" altLang="en-US" sz="18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endParaRPr lang="en-US" altLang="en-US" sz="1800" dirty="0">
              <a:latin typeface="Times New Roman" panose="020205030504050903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endParaRPr lang="en-US" alt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503050405090304" pitchFamily="18" charset="0"/>
                <a:ea typeface="Cambria" panose="02040503050406030204" pitchFamily="18" charset="0"/>
                <a:cs typeface="Times New Roman" panose="02020503050405090304" pitchFamily="18" charset="0"/>
              </a:rPr>
              <a:t>System Architecture</a:t>
            </a:r>
            <a:r>
              <a:rPr lang="en-US" sz="2000" dirty="0">
                <a:latin typeface="Times New Roman" panose="02020503050405090304" pitchFamily="18" charset="0"/>
                <a:ea typeface="Cambria" panose="02040503050406030204" pitchFamily="18" charset="0"/>
                <a:cs typeface="Times New Roman" panose="02020503050405090304" pitchFamily="18" charset="0"/>
              </a:rPr>
              <a:t/>
            </a:r>
            <a:endParaRPr lang="en-US" sz="2000" dirty="0">
              <a:latin typeface="Times New Roman" panose="02020503050405090304" pitchFamily="18" charset="0"/>
              <a:ea typeface="Cambria" panose="02040503050406030204" pitchFamily="18" charset="0"/>
              <a:cs typeface="Times New Roman" panose="020205030504050903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Frontend: HTML, CSS, JavaScript</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Backend: Python (Flask / Django)</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Database: MySQL / SQLite</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Notification Services: Firebase / Email / SMS</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Deployment: Cloud-based hosting</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 xml:space="preserve">Hardware &amp; Software Specifications</a:t>
            </a:r>
            <a:r>
              <a:rPr lang="en-US" sz="2000" dirty="0">
                <a:latin typeface="Cambria" panose="02040503050406030204" pitchFamily="18" charset="0"/>
                <a:ea typeface="Cambria" panose="02040503050406030204" pitchFamily="18" charset="0"/>
              </a:rPr>
              <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50000"/>
              </a:lnSpc>
              <a:spcBef>
                <a:spcPts val="0"/>
              </a:spcBef>
              <a:spcAft>
                <a:spcPts val="0"/>
              </a:spcAft>
              <a:buClr>
                <a:schemeClr val="dk1"/>
              </a:buClr>
              <a:buSzPct val="100000"/>
              <a:buNone/>
            </a:pPr>
            <a:r>
              <a:rPr lang="en-US" altLang="en-US" b="1" dirty="0">
                <a:latin typeface="Cambria" panose="02040503050406030204" pitchFamily="18" charset="0"/>
                <a:ea typeface="Cambria" panose="02040503050406030204" pitchFamily="18" charset="0"/>
              </a:rPr>
              <a:t>Software Requirements:</a:t>
            </a:r>
            <a:endParaRPr lang="en-US" altLang="en-US" b="1" dirty="0">
              <a:latin typeface="Cambria" panose="02040503050406030204" pitchFamily="18" charset="0"/>
              <a:ea typeface="Cambria" panose="020405030504060302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Operating System: Windows / Linux / macOS</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Programming Language: Python 3.x</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Backend Framework: Flask / Django</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Frontend Technologies: HTML, CSS, JavaScript</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Database: MySQL / SQLite</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Development Tools: VS Code, GitHub</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Web Browser: Chrome / Edge / Mobile Browser</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342900" lvl="0" indent="-190500" algn="just" rtl="0">
              <a:lnSpc>
                <a:spcPct val="200000"/>
              </a:lnSpc>
              <a:spcBef>
                <a:spcPts val="0"/>
              </a:spcBef>
              <a:spcAft>
                <a:spcPts val="0"/>
              </a:spcAft>
              <a:buClr>
                <a:schemeClr val="dk1"/>
              </a:buClr>
              <a:buSzPct val="100000"/>
              <a:buNone/>
            </a:pPr>
            <a:endParaRPr sz="1800" dirty="0">
              <a:latin typeface="Times New Roman" panose="02020503050405090304" pitchFamily="18" charset="0"/>
              <a:ea typeface="Cambria" panose="02040503050406030204" pitchFamily="18" charset="0"/>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SDG Mapping</a:t>
            </a:r>
            <a:endParaRPr lang="en-US" dirty="0">
              <a:latin typeface="Times New Roman" panose="02020503050405090304" pitchFamily="18" charset="0"/>
              <a:cs typeface="Times New Roman" panose="02020503050405090304" pitchFamily="18" charset="0"/>
            </a:endParaRPr>
          </a:p>
        </p:txBody>
      </p:sp>
      <p:sp>
        <p:nvSpPr>
          <p:cNvPr id="3" name="Text Placeholder 2"/>
          <p:cNvSpPr>
            <a:spLocks noGrp="1"/>
          </p:cNvSpPr>
          <p:nvPr>
            <p:ph type="body" idx="1"/>
          </p:nvPr>
        </p:nvSpPr>
        <p:spPr>
          <a:xfrm>
            <a:off x="680720" y="952500"/>
            <a:ext cx="10668000" cy="4953000"/>
          </a:xfrm>
        </p:spPr>
        <p:txBody>
          <a:bodyPr/>
          <a:lstStyle/>
          <a:p>
            <a:pPr>
              <a:lnSpc>
                <a:spcPct val="150000"/>
              </a:lnSpc>
              <a:buFont typeface="Wingdings" panose="05000000000000000000" pitchFamily="2" charset="2"/>
              <a:buChar char="Ø"/>
            </a:pPr>
            <a:r>
              <a:rPr lang="en-US" altLang="en-US" sz="1900" b="1" dirty="0">
                <a:latin typeface="Times New Roman" panose="02020503050405090304" pitchFamily="18" charset="0"/>
                <a:cs typeface="Times New Roman" panose="02020503050405090304" pitchFamily="18" charset="0"/>
              </a:rPr>
              <a:t>SDG 4</a:t>
            </a:r>
            <a:r>
              <a:rPr lang="en-US" altLang="en-US" sz="1900" dirty="0">
                <a:latin typeface="Times New Roman" panose="02020503050405090304" pitchFamily="18" charset="0"/>
                <a:cs typeface="Times New Roman" panose="02020503050405090304" pitchFamily="18" charset="0"/>
              </a:rPr>
              <a:t xml:space="preserve"> – </a:t>
            </a:r>
            <a:r>
              <a:rPr lang="en-US" altLang="en-US" sz="1900" b="1" dirty="0">
                <a:latin typeface="Times New Roman" panose="02020503050405090304" pitchFamily="18" charset="0"/>
                <a:cs typeface="Times New Roman" panose="02020503050405090304" pitchFamily="18" charset="0"/>
              </a:rPr>
              <a:t>Quality Education</a:t>
            </a:r>
            <a:endParaRPr lang="en-US" altLang="en-US" sz="1900" dirty="0">
              <a:latin typeface="Times New Roman" panose="02020503050405090304" pitchFamily="18" charset="0"/>
              <a:cs typeface="Times New Roman" panose="02020503050405090304" pitchFamily="18" charset="0"/>
            </a:endParaRPr>
          </a:p>
          <a:p>
            <a:pPr marL="76200" indent="0">
              <a:lnSpc>
                <a:spcPct val="150000"/>
              </a:lnSpc>
              <a:buFont typeface="Wingdings" panose="05000000000000000000" pitchFamily="2" charset="2"/>
              <a:buNone/>
            </a:pPr>
            <a:r>
              <a:rPr lang="en-US" altLang="en-US" sz="1800" dirty="0">
                <a:latin typeface="Times New Roman" panose="02020503050405090304" pitchFamily="18" charset="0"/>
                <a:cs typeface="Times New Roman" panose="02020503050405090304" pitchFamily="18" charset="0"/>
              </a:rPr>
              <a:t xml:space="preserve">       Enhances disaster education and life-saving skills among students and staff.</a:t>
            </a:r>
            <a:endParaRPr lang="en-US" altLang="en-US" sz="1800" dirty="0">
              <a:latin typeface="Times New Roman" panose="02020503050405090304" pitchFamily="18" charset="0"/>
              <a:cs typeface="Times New Roman" panose="02020503050405090304" pitchFamily="18" charset="0"/>
            </a:endParaRPr>
          </a:p>
          <a:p>
            <a:pPr marL="76200" indent="0">
              <a:lnSpc>
                <a:spcPct val="150000"/>
              </a:lnSpc>
              <a:buFont typeface="Wingdings" panose="05000000000000000000" pitchFamily="2" charset="2"/>
              <a:buNone/>
            </a:pPr>
            <a:endParaRPr lang="en-US" altLang="en-US" sz="1800" dirty="0">
              <a:latin typeface="Times New Roman" panose="02020503050405090304" pitchFamily="18" charset="0"/>
              <a:cs typeface="Times New Roman" panose="02020503050405090304" pitchFamily="18" charset="0"/>
            </a:endParaRPr>
          </a:p>
          <a:p>
            <a:pPr>
              <a:lnSpc>
                <a:spcPct val="150000"/>
              </a:lnSpc>
              <a:buFont typeface="Wingdings" panose="05000000000000000000" pitchFamily="2" charset="2"/>
              <a:buChar char="Ø"/>
            </a:pPr>
            <a:r>
              <a:rPr lang="en-US" altLang="en-US" sz="1900" b="1" dirty="0">
                <a:latin typeface="Times New Roman" panose="02020503050405090304" pitchFamily="18" charset="0"/>
                <a:cs typeface="Times New Roman" panose="02020503050405090304" pitchFamily="18" charset="0"/>
              </a:rPr>
              <a:t>SDG 11 – Sustainable Cities and Communities</a:t>
            </a:r>
            <a:endParaRPr lang="en-US" altLang="en-US" sz="1900" b="1" dirty="0">
              <a:latin typeface="Times New Roman" panose="02020503050405090304" pitchFamily="18" charset="0"/>
              <a:cs typeface="Times New Roman" panose="02020503050405090304" pitchFamily="18" charset="0"/>
            </a:endParaRPr>
          </a:p>
          <a:p>
            <a:pPr marL="76200" indent="0">
              <a:lnSpc>
                <a:spcPct val="150000"/>
              </a:lnSpc>
              <a:buFont typeface="Wingdings" panose="05000000000000000000" pitchFamily="2" charset="2"/>
              <a:buNone/>
            </a:pPr>
            <a:r>
              <a:rPr lang="en-US" altLang="en-US" sz="1800" b="1" dirty="0">
                <a:latin typeface="Times New Roman" panose="02020503050405090304" pitchFamily="18" charset="0"/>
                <a:cs typeface="Times New Roman" panose="02020503050405090304" pitchFamily="18" charset="0"/>
              </a:rPr>
              <a:t xml:space="preserve">       </a:t>
            </a:r>
            <a:r>
              <a:rPr lang="en-US" altLang="en-US" sz="1800" dirty="0">
                <a:latin typeface="Times New Roman" panose="02020503050405090304" pitchFamily="18" charset="0"/>
                <a:cs typeface="Times New Roman" panose="02020503050405090304" pitchFamily="18" charset="0"/>
              </a:rPr>
              <a:t>Improves disaster resilience of educational institutions and local communities.</a:t>
            </a:r>
            <a:endParaRPr lang="en-US" altLang="en-US" sz="1800" dirty="0">
              <a:latin typeface="Times New Roman" panose="02020503050405090304" pitchFamily="18" charset="0"/>
              <a:cs typeface="Times New Roman" panose="02020503050405090304" pitchFamily="18" charset="0"/>
            </a:endParaRPr>
          </a:p>
          <a:p>
            <a:pPr marL="76200" indent="0">
              <a:lnSpc>
                <a:spcPct val="150000"/>
              </a:lnSpc>
              <a:buFont typeface="Wingdings" panose="05000000000000000000" pitchFamily="2" charset="2"/>
              <a:buNone/>
            </a:pPr>
            <a:endParaRPr lang="en-US" altLang="en-US" sz="1800" dirty="0">
              <a:latin typeface="Times New Roman" panose="02020503050405090304" pitchFamily="18" charset="0"/>
              <a:cs typeface="Times New Roman" panose="02020503050405090304" pitchFamily="18" charset="0"/>
            </a:endParaRPr>
          </a:p>
          <a:p>
            <a:pPr>
              <a:lnSpc>
                <a:spcPct val="150000"/>
              </a:lnSpc>
              <a:buFont typeface="Wingdings" panose="05000000000000000000" charset="0"/>
              <a:buChar char=""/>
            </a:pPr>
            <a:r>
              <a:rPr lang="en-US" altLang="en-US" sz="1900" b="1" dirty="0">
                <a:latin typeface="Times New Roman" panose="02020503050405090304" pitchFamily="18" charset="0"/>
                <a:cs typeface="Times New Roman" panose="02020503050405090304" pitchFamily="18" charset="0"/>
              </a:rPr>
              <a:t>SDG 13 – Climate Action</a:t>
            </a:r>
            <a:endParaRPr lang="en-US" altLang="en-US" sz="1900" b="1" dirty="0">
              <a:latin typeface="Times New Roman" panose="02020503050405090304" pitchFamily="18" charset="0"/>
              <a:cs typeface="Times New Roman" panose="02020503050405090304" pitchFamily="18" charset="0"/>
            </a:endParaRPr>
          </a:p>
          <a:p>
            <a:pPr marL="76200" indent="0">
              <a:lnSpc>
                <a:spcPct val="150000"/>
              </a:lnSpc>
              <a:buFont typeface="Wingdings" panose="05000000000000000000" pitchFamily="2" charset="2"/>
              <a:buNone/>
            </a:pPr>
            <a:r>
              <a:rPr lang="en-US" sz="1900" b="1" dirty="0">
                <a:latin typeface="Times New Roman" panose="02020503050405090304" pitchFamily="18" charset="0"/>
                <a:cs typeface="Times New Roman" panose="02020503050405090304" pitchFamily="18" charset="0"/>
              </a:rPr>
              <a:t xml:space="preserve">     </a:t>
            </a:r>
            <a:r>
              <a:rPr lang="en-US" altLang="en-US" sz="1900" dirty="0">
                <a:latin typeface="Times New Roman" panose="02020503050405090304" pitchFamily="18" charset="0"/>
                <a:cs typeface="Times New Roman" panose="02020503050405090304" pitchFamily="18" charset="0"/>
              </a:rPr>
              <a:t>Prepares institutions to respond effectively to climate-related disasters.</a:t>
            </a:r>
            <a:endParaRPr lang="en-US" altLang="en-US" sz="1900" dirty="0">
              <a:latin typeface="Times New Roman" panose="02020503050405090304" pitchFamily="18" charset="0"/>
              <a:cs typeface="Times New Roman" panose="02020503050405090304" pitchFamily="18" charset="0"/>
            </a:endParaRPr>
          </a:p>
          <a:p>
            <a:pPr marL="76200" indent="0">
              <a:buFont typeface="Wingdings" panose="05000000000000000000" pitchFamily="2" charset="2"/>
              <a:buNone/>
            </a:pPr>
            <a:endParaRPr lang="en-US" altLang="en-US" sz="19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6200"/>
            <a:r>
              <a:rPr lang="en-US" altLang="en-US" dirty="0">
                <a:latin typeface="Times New Roman" panose="02020503050405090304" pitchFamily="18" charset="0"/>
                <a:cs typeface="Times New Roman" panose="02020503050405090304" pitchFamily="18" charset="0"/>
              </a:rPr>
              <a:t>System Modules</a:t>
            </a:r>
            <a:endParaRPr lang="en-US" altLang="en-US" dirty="0">
              <a:latin typeface="Times New Roman" panose="02020503050405090304" pitchFamily="18" charset="0"/>
              <a:cs typeface="Times New Roman" panose="02020503050405090304" pitchFamily="18" charset="0"/>
            </a:endParaRPr>
          </a:p>
        </p:txBody>
      </p:sp>
      <p:sp>
        <p:nvSpPr>
          <p:cNvPr id="3" name="Text Placeholder 2"/>
          <p:cNvSpPr>
            <a:spLocks noGrp="1"/>
          </p:cNvSpPr>
          <p:nvPr>
            <p:ph type="body" idx="1"/>
          </p:nvPr>
        </p:nvSpPr>
        <p:spPr/>
        <p:txBody>
          <a:bodyPr>
            <a:normAutofit/>
          </a:bodyPr>
          <a:lstStyle/>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Interactive disaster preparedness education platform</a:t>
            </a:r>
            <a:endParaRPr lang="en-US" altLang="en-US" sz="1800" dirty="0">
              <a:latin typeface="Times New Roman" panose="02020503050405090304" pitchFamily="18" charset="0"/>
              <a:cs typeface="Times New Roman" panose="02020503050405090304" pitchFamily="18" charset="0"/>
            </a:endParaRP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Virtual disaster drills and simulations</a:t>
            </a:r>
            <a:endParaRPr lang="en-US" altLang="en-US" sz="1800" dirty="0">
              <a:latin typeface="Times New Roman" panose="02020503050405090304" pitchFamily="18" charset="0"/>
              <a:cs typeface="Times New Roman" panose="02020503050405090304" pitchFamily="18" charset="0"/>
            </a:endParaRP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Region-specific disaster awareness and alerts</a:t>
            </a:r>
            <a:endParaRPr lang="en-US" altLang="en-US" sz="1800" dirty="0">
              <a:latin typeface="Times New Roman" panose="02020503050405090304" pitchFamily="18" charset="0"/>
              <a:cs typeface="Times New Roman" panose="02020503050405090304" pitchFamily="18" charset="0"/>
            </a:endParaRP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Gamified learning to improve engagement</a:t>
            </a:r>
            <a:endParaRPr lang="en-US" altLang="en-US" sz="1800" dirty="0">
              <a:latin typeface="Times New Roman" panose="02020503050405090304" pitchFamily="18" charset="0"/>
              <a:cs typeface="Times New Roman" panose="02020503050405090304" pitchFamily="18" charset="0"/>
            </a:endParaRP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Institutional preparedness analytics dashboard</a:t>
            </a:r>
            <a:endParaRPr lang="en-US" altLang="en-US" sz="1800" dirty="0">
              <a:latin typeface="Times New Roman" panose="02020503050405090304" pitchFamily="18" charset="0"/>
              <a:cs typeface="Times New Roman" panose="02020503050405090304" pitchFamily="18" charset="0"/>
            </a:endParaRP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Scalable and low-cost solution for schools and colleges</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endParaRPr lang="en-US" altLang="en-US" sz="18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804030504040204"/>
              <a:buNone/>
            </a:pPr>
            <a:r>
              <a:rPr lang="en-GB" dirty="0">
                <a:latin typeface="Times New Roman" panose="02020503050405090304" pitchFamily="18" charset="0"/>
                <a:ea typeface="Cambria" panose="02040503050406030204" pitchFamily="18" charset="0"/>
                <a:cs typeface="Times New Roman" panose="02020503050405090304" pitchFamily="18" charset="0"/>
              </a:rPr>
              <a:t>Timeline of the Project (Gantt Chart)</a:t>
            </a:r>
            <a:endParaRPr dirty="0">
              <a:latin typeface="Times New Roman" panose="02020503050405090304" pitchFamily="18" charset="0"/>
              <a:ea typeface="Cambria" panose="02040503050406030204" pitchFamily="18" charset="0"/>
              <a:cs typeface="Times New Roman" panose="020205030504050903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 xml:space="preserve">    </a:t>
            </a:r>
            <a:endParaRPr lang="en-US" alt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dirty="0">
              <a:latin typeface="Cambria" panose="02040503050406030204" pitchFamily="18" charset="0"/>
              <a:ea typeface="Cambria" panose="02040503050406030204" pitchFamily="18" charset="0"/>
            </a:endParaRPr>
          </a:p>
        </p:txBody>
      </p:sp>
      <p:pic>
        <p:nvPicPr>
          <p:cNvPr id="2" name="Picture 1" descr="Screenshot 2026-01-16 at 12.25.16 PM"/>
          <p:cNvPicPr>
            <a:picLocks noChangeAspect="1"/>
          </p:cNvPicPr>
          <p:nvPr/>
        </p:nvPicPr>
        <p:blipFill>
          <a:blip r:embed="rId1"/>
          <a:stretch>
            <a:fillRect/>
          </a:stretch>
        </p:blipFill>
        <p:spPr>
          <a:xfrm>
            <a:off x="990600" y="1009015"/>
            <a:ext cx="10210800" cy="4562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467360" y="762138"/>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altLang="en-US" dirty="0">
              <a:latin typeface="Cambria" panose="02040503050406030204" pitchFamily="18" charset="0"/>
              <a:ea typeface="Cambria" panose="020405030504060302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[1] M. Johnson, L. Wang, and S. Kumar, “Disaster risk reduction education in schools: A systematic review,” International Journal of Disaster Risk Reduction, vol. 72, pp. 102845, 2022.</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[2] R. Patel and S. Kumar, “Technology-enhanced disaster management training for educational institutions,” IEEE Access, vol. 10, pp. 45678-45692, 2023.</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[3] L. Chen, Y. Zhang, and K. Brown, “Gamification in emergency preparedness education: A meta-analysis,” Computers &amp; Education, vol. 178, pp. 104567, 2023.</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[4] A. Sharma and N. Gupta, “Region-specific disaster awareness systems: A case study approach,” Journal of Disaster Management, vol. 15, no. 3, pp. 234-249, 2022.</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[5] D. Martinez, J. Rodriguez, and M. Garcia, “Cloud-based emergency response platforms for educational institutions,” IEEE Transactions on Education, vol. 66, no. 2, pp. 145-158, 2023.</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[6] Y. Wang and X. Liu, “Analytics dashboard for institutional disaster preparedness assessment,” Safety Science, vol. 165, pp. 106234, 2023.</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[7] V. Kumar and R. Singh, “Mobile-first disaster alert systems for youth education,” Mobile Information Systems, vol. 2023, pp. 1-15, 2023.</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[8] National Disaster Management Authority and UNESCO, “Integration of national disaster management guidelines in school curricula,” Policy Framework Document, Government of India, 2021.</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[9] P. Anderson, K. Lee, and T. Wilson, “Firebase for real-time emergency communication in educational settings,” Journal of Educational Technology, vol. 45, no. 4, pp. 567-582, 2022.</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[10] S. Taylor and K. Brown, “User experience design for emergency preparedness applications,” International Journal of Human-Computer Interaction, vol. 39, no. 8, pp. 1654-1670, 2023.</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a:p>
            <a:pPr marL="609600" lvl="1" indent="0" algn="just">
              <a:lnSpc>
                <a:spcPct val="150000"/>
              </a:lnSpc>
              <a:spcBef>
                <a:spcPts val="0"/>
              </a:spcBef>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[3] A. Shaw, R. Sharma, and P. Gupta, “Integrating disaster preparedness education in schools using digital platforms,” IEEE Access, vol. 9, pp. 112345–112356, 2021.</a:t>
            </a:r>
            <a:endParaRPr lang="en-US" altLang="en-US" sz="1800" dirty="0">
              <a:latin typeface="Times New Roman" panose="02020503050405090304" pitchFamily="18" charset="0"/>
              <a:ea typeface="Cambria" panose="02040503050406030204" pitchFamily="18" charset="0"/>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35" y="139960"/>
            <a:ext cx="10890897" cy="541176"/>
          </a:xfrm>
        </p:spPr>
        <p:txBody>
          <a:bodyPr/>
          <a:lstStyle/>
          <a:p>
            <a:br>
              <a:rPr lang="en-US" altLang="en-US" dirty="0">
                <a:latin typeface="Times New Roman" panose="02020503050405090304" pitchFamily="18" charset="0"/>
                <a:cs typeface="Times New Roman" panose="02020503050405090304" pitchFamily="18" charset="0"/>
              </a:rPr>
            </a:br>
            <a:r>
              <a:rPr lang="en-US" altLang="en-US" dirty="0">
                <a:latin typeface="Times New Roman" panose="02020503050405090304" pitchFamily="18" charset="0"/>
                <a:cs typeface="Times New Roman" panose="02020503050405090304" pitchFamily="18" charset="0"/>
              </a:rPr>
              <a:t>Abstract</a:t>
            </a:r>
            <a:br>
              <a:rPr lang="en-US" altLang="en-US" dirty="0">
                <a:latin typeface="Times New Roman" panose="02020503050405090304" pitchFamily="18" charset="0"/>
                <a:cs typeface="Times New Roman" panose="02020503050405090304" pitchFamily="18" charset="0"/>
              </a:rPr>
            </a:br>
            <a:endParaRPr lang="en-US" dirty="0"/>
          </a:p>
        </p:txBody>
      </p:sp>
      <p:sp>
        <p:nvSpPr>
          <p:cNvPr id="3" name="Text Placeholder 2"/>
          <p:cNvSpPr>
            <a:spLocks noGrp="1"/>
          </p:cNvSpPr>
          <p:nvPr>
            <p:ph type="body" idx="1"/>
          </p:nvPr>
        </p:nvSpPr>
        <p:spPr>
          <a:xfrm>
            <a:off x="579535" y="952500"/>
            <a:ext cx="10668000" cy="4953000"/>
          </a:xfrm>
        </p:spPr>
        <p:txBody>
          <a:bodyPr>
            <a:noAutofit/>
          </a:bodyPr>
          <a:lstStyle/>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Educational institutions in India face significant challenges in disaster preparedness, with limited structured training and inadequate digital tools for emergency response education. This project develops a comprehensive digital platform that integrates interactive learning modules, virtual disaster simulations, and real-time alert systems specifically designed for schools and colleges.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The system addresses critical gaps in disaster education by providing region-specific awareness content, gamified learning experiences, and institutional preparedness analytics. By combining modern web technologies with disaster management principles, the platform enables students and staff to develop practical emergency response skills through simulated drills and scenario-based training.</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Aligned with SDG 4 (Quality Education), SDG 11 (Sustainable Cities and Communities), and SDG 13 (Climate Action), this solution aims to create disaster-resilient educational communities capable of effective emergency response. The platform leverages cloud-based architecture ensuring 95% uptime, supports 10,000+ concurrent users, and provides comprehensive analytics for institutional preparedness monitoring.</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
            </a:r>
            <a:endParaRPr lang="en-US" altLang="en-US" sz="1800" dirty="0">
              <a:latin typeface="Times New Roman" panose="02020503050405090304" pitchFamily="18" charset="0"/>
              <a:cs typeface="Times New Roman" panose="02020503050405090304" pitchFamily="18" charset="0"/>
            </a:endParaRPr>
          </a:p>
        </p:txBody>
      </p:sp>
      <p:sp>
        <p:nvSpPr>
          <p:cNvPr id="4" name="Text Box 3"/>
          <p:cNvSpPr txBox="1"/>
          <p:nvPr/>
        </p:nvSpPr>
        <p:spPr>
          <a:xfrm>
            <a:off x="2515235" y="4290060"/>
            <a:ext cx="4064000" cy="306705"/>
          </a:xfrm>
          <a:prstGeom prst="rect">
            <a:avLst/>
          </a:prstGeom>
          <a:noFill/>
        </p:spPr>
        <p:txBody>
          <a:bodyPr wrap="square" rtlCol="0">
            <a:spAutoFit/>
          </a:bodyPr>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35" y="139960"/>
            <a:ext cx="10890897" cy="541176"/>
          </a:xfrm>
        </p:spPr>
        <p:txBody>
          <a:bodyPr/>
          <a:lstStyle/>
          <a:p>
            <a:br>
              <a:rPr lang="en-US" altLang="en-US" dirty="0">
                <a:latin typeface="Times New Roman" panose="02020503050405090304" pitchFamily="18" charset="0"/>
                <a:cs typeface="Times New Roman" panose="02020503050405090304" pitchFamily="18" charset="0"/>
              </a:rPr>
            </a:br>
            <a:r>
              <a:rPr lang="en-US" altLang="en-US" dirty="0">
                <a:latin typeface="Times New Roman" panose="02020503050405090304" pitchFamily="18" charset="0"/>
                <a:cs typeface="Times New Roman" panose="02020503050405090304" pitchFamily="18" charset="0"/>
              </a:rPr>
              <a:t>Literature Survey - Overview</a:t>
            </a:r>
            <a:br>
              <a:rPr lang="en-US" altLang="en-US" dirty="0">
                <a:latin typeface="Times New Roman" panose="02020503050405090304" pitchFamily="18" charset="0"/>
                <a:cs typeface="Times New Roman" panose="02020503050405090304" pitchFamily="18" charset="0"/>
              </a:rPr>
            </a:br>
            <a:endParaRPr lang="en-US" dirty="0"/>
          </a:p>
        </p:txBody>
      </p:sp>
      <p:sp>
        <p:nvSpPr>
          <p:cNvPr id="3" name="Text Placeholder 2"/>
          <p:cNvSpPr>
            <a:spLocks noGrp="1"/>
          </p:cNvSpPr>
          <p:nvPr>
            <p:ph type="body" idx="1"/>
          </p:nvPr>
        </p:nvSpPr>
        <p:spPr>
          <a:xfrm>
            <a:off x="579535" y="952500"/>
            <a:ext cx="10668000" cy="4953000"/>
          </a:xfrm>
        </p:spPr>
        <p:txBody>
          <a:bodyPr>
            <a:noAutofit/>
          </a:bodyPr>
          <a:lstStyle/>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Comprehensive review of 10+ research papers from IEEE, Scopus, and Web of Science indexed journals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Focus areas: School Disaster Education, Digital Learning Platforms, Simulation &amp; Gamification, Region-Specific Approaches, and Preparedness Analytics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Key findings indicate that digital disaster education improves preparedness by 65-85%, with gamified learning showing 82% higher engagement</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Research emphasizes the need for interactive platforms over traditional methods, with virtual drills showing 78% better effectiveness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Studies highlight importance of cloud-based systems for scalability, real-time coordination, and institutional analytics</a:t>
            </a:r>
            <a:endParaRPr lang="en-US" altLang="en-US" sz="1800" dirty="0">
              <a:latin typeface="Times New Roman" panose="02020503050405090304" pitchFamily="18" charset="0"/>
              <a:cs typeface="Times New Roman" panose="02020503050405090304" pitchFamily="18" charset="0"/>
            </a:endParaRPr>
          </a:p>
        </p:txBody>
      </p:sp>
      <p:sp>
        <p:nvSpPr>
          <p:cNvPr id="4" name="Text Box 3"/>
          <p:cNvSpPr txBox="1"/>
          <p:nvPr/>
        </p:nvSpPr>
        <p:spPr>
          <a:xfrm>
            <a:off x="2515235" y="4290060"/>
            <a:ext cx="4064000" cy="306705"/>
          </a:xfrm>
          <a:prstGeom prst="rect">
            <a:avLst/>
          </a:prstGeom>
          <a:noFill/>
        </p:spPr>
        <p:txBody>
          <a:bodyPr wrap="square" rtlCol="0">
            <a:spAutoFit/>
          </a:bodyPr>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35" y="139960"/>
            <a:ext cx="10890897" cy="541176"/>
          </a:xfrm>
        </p:spPr>
        <p:txBody>
          <a:bodyPr/>
          <a:lstStyle/>
          <a:p>
            <a:br>
              <a:rPr lang="en-US" altLang="en-US" dirty="0">
                <a:latin typeface="Times New Roman" panose="02020503050405090304" pitchFamily="18" charset="0"/>
                <a:cs typeface="Times New Roman" panose="02020503050405090304" pitchFamily="18" charset="0"/>
              </a:rPr>
            </a:br>
            <a:r>
              <a:rPr lang="en-US" altLang="en-US" dirty="0">
                <a:latin typeface="Times New Roman" panose="02020503050405090304" pitchFamily="18" charset="0"/>
                <a:cs typeface="Times New Roman" panose="02020503050405090304" pitchFamily="18" charset="0"/>
              </a:rPr>
              <a:t>Literature Survey - Key Research</a:t>
            </a:r>
            <a:br>
              <a:rPr lang="en-US" altLang="en-US" dirty="0">
                <a:latin typeface="Times New Roman" panose="02020503050405090304" pitchFamily="18" charset="0"/>
                <a:cs typeface="Times New Roman" panose="02020503050405090304" pitchFamily="18" charset="0"/>
              </a:rPr>
            </a:br>
            <a:endParaRPr lang="en-US" dirty="0"/>
          </a:p>
        </p:txBody>
      </p:sp>
      <p:sp>
        <p:nvSpPr>
          <p:cNvPr id="3" name="Text Placeholder 2"/>
          <p:cNvSpPr>
            <a:spLocks noGrp="1"/>
          </p:cNvSpPr>
          <p:nvPr>
            <p:ph type="body" idx="1"/>
          </p:nvPr>
        </p:nvSpPr>
        <p:spPr>
          <a:xfrm>
            <a:off x="579535" y="952500"/>
            <a:ext cx="10668000" cy="4953000"/>
          </a:xfrm>
        </p:spPr>
        <p:txBody>
          <a:bodyPr>
            <a:noAutofit/>
          </a:bodyPr>
          <a:lstStyle/>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[1] Johnson et al. (2022) - Disaster Risk Reduction Education: Structured education improves preparedness by 65%. Digital platforms show superior results over traditional methods.</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[2] Patel &amp; Kumar (2023) - Technology-Enhanced Training: Digital simulation increased drill effectiveness by 78%. VR-based training showed 85% retention vs 45% traditional.</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[3] Chen et al. (2023) - Gamification in Emergency Education: Gamified modules improved engagement by 82% and knowledge retention by 67%.</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[4] Sharma &amp; Gupta (2022) - Region-Specific Systems: Localized content increased relevance by 73%. Regional alerts reduced response time by 40%.</a:t>
            </a:r>
            <a:endParaRPr lang="en-US" altLang="en-US" sz="1800" dirty="0">
              <a:latin typeface="Times New Roman" panose="02020503050405090304" pitchFamily="18" charset="0"/>
              <a:cs typeface="Times New Roman" panose="02020503050405090304" pitchFamily="18" charset="0"/>
            </a:endParaRP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[5] Martinez et al. (2023) - Cloud Emergency Platforms: 99.7% uptime achieved. System handled 100,000+ concurrent users across 500+ institutions.</a:t>
            </a:r>
            <a:endParaRPr lang="en-US" altLang="en-US" sz="1800" dirty="0">
              <a:latin typeface="Times New Roman" panose="02020503050405090304" pitchFamily="18" charset="0"/>
              <a:cs typeface="Times New Roman" panose="02020503050405090304" pitchFamily="18" charset="0"/>
            </a:endParaRPr>
          </a:p>
        </p:txBody>
      </p:sp>
      <p:sp>
        <p:nvSpPr>
          <p:cNvPr id="4" name="Text Box 3"/>
          <p:cNvSpPr txBox="1"/>
          <p:nvPr/>
        </p:nvSpPr>
        <p:spPr>
          <a:xfrm>
            <a:off x="2515235" y="4290060"/>
            <a:ext cx="4064000" cy="306705"/>
          </a:xfrm>
          <a:prstGeom prst="rect">
            <a:avLst/>
          </a:prstGeom>
          <a:noFill/>
        </p:spPr>
        <p:txBody>
          <a:bodyPr wrap="square" rtlCol="0">
            <a:spAutoFit/>
          </a:bodyPr>
          <a:p>
            <a:endParaRPr lang="en-US"/>
          </a:p>
        </p:txBody>
      </p:sp>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5080</Words>
  <Application>WPS Presentation</Application>
  <PresentationFormat>Widescreen</PresentationFormat>
  <Paragraphs>151</Paragraphs>
  <Slides>13</Slides>
  <Notes>9</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SimSun</vt:lpstr>
      <vt:lpstr>Wingdings</vt:lpstr>
      <vt:lpstr>Arial</vt:lpstr>
      <vt:lpstr>Verdana</vt:lpstr>
      <vt:lpstr>Bookman Old Style</vt:lpstr>
      <vt:lpstr>Thonburi</vt:lpstr>
      <vt:lpstr>Times New Roman</vt:lpstr>
      <vt:lpstr>Cambria</vt:lpstr>
      <vt:lpstr>苹方-简</vt:lpstr>
      <vt:lpstr>Microsoft YaHei</vt:lpstr>
      <vt:lpstr>汉仪旗黑</vt:lpstr>
      <vt:lpstr>Arial Unicode MS</vt:lpstr>
      <vt:lpstr>宋体-简</vt:lpstr>
      <vt:lpstr>Wingdings</vt:lpstr>
      <vt:lpstr>Bioinformatics</vt:lpstr>
      <vt:lpstr>Al-Based Internship Recommendation Engine for PM Internship Scheme</vt:lpstr>
      <vt:lpstr>Problem Statement Number: SIH25034</vt:lpstr>
      <vt:lpstr> Objectives </vt:lpstr>
      <vt:lpstr>Background and Related Work</vt:lpstr>
      <vt:lpstr>Analysis of Problem Statement</vt:lpstr>
      <vt:lpstr>Analysis of Problem Statement (contd…)</vt:lpstr>
      <vt:lpstr>Analysis of Problem Statement (contd...)</vt:lpstr>
      <vt:lpstr>SDG Mapping</vt:lpstr>
      <vt:lpstr>Innovation or Novel Contributions</vt:lpstr>
      <vt:lpstr>Github Link</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Hemanth Reddy</cp:lastModifiedBy>
  <cp:revision>47</cp:revision>
  <dcterms:created xsi:type="dcterms:W3CDTF">2026-01-16T06:56:34Z</dcterms:created>
  <dcterms:modified xsi:type="dcterms:W3CDTF">2026-01-16T06:56:34Z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DB97C8B86F65D97F5C655F69DCBFD11B_42</vt:lpwstr>
  </property>
  <property fmtid="{D5CDD505-2E9C-101B-9397-08002B2CF9AE}" pid="3" name="KSOProductBuildVer">
    <vt:lpwstr>1033-12.1.23153.23153</vt:lpwstr>
  </property>
</Properties>
</file>