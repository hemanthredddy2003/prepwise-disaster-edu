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4"/>
  </p:notesMasterIdLst>
  <p:sldIdLst>
    <p:sldId id="256" r:id="rId2"/>
    <p:sldId id="269" r:id="rId3"/>
    <p:sldId id="275" r:id="rId4"/>
    <p:sldId id="276" r:id="rId5"/>
    <p:sldId id="279" r:id="rId6"/>
    <p:sldId id="273" r:id="rId7"/>
    <p:sldId id="272" r:id="rId8"/>
    <p:sldId id="278" r:id="rId9"/>
    <p:sldId id="277" r:id="rId10"/>
    <p:sldId id="270" r:id="rId11"/>
    <p:sldId id="268"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3" autoAdjust="0"/>
    <p:restoredTop sz="94660"/>
  </p:normalViewPr>
  <p:slideViewPr>
    <p:cSldViewPr snapToGrid="0">
      <p:cViewPr>
        <p:scale>
          <a:sx n="77" d="100"/>
          <a:sy n="77" d="100"/>
        </p:scale>
        <p:origin x="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8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804030504040204"/>
              <a:buNone/>
              <a:defRPr sz="2800" b="1" i="0" u="none" strike="noStrike" cap="none">
                <a:solidFill>
                  <a:srgbClr val="FF0000"/>
                </a:solidFill>
                <a:latin typeface="Verdana" panose="020B0804030504040204"/>
                <a:ea typeface="Verdana" panose="020B0804030504040204"/>
                <a:cs typeface="Verdana" panose="020B0804030504040204"/>
                <a:sym typeface="Verdana" panose="020B08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spcBef>
                <a:spcPts val="360"/>
              </a:spcBef>
              <a:spcAft>
                <a:spcPts val="0"/>
              </a:spcAft>
              <a:buClr>
                <a:schemeClr val="dk1"/>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L="0" marR="0" lvl="1"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2pPr>
            <a:lvl3pPr marL="0" marR="0" lvl="2"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3pPr>
            <a:lvl4pPr marL="0" marR="0" lvl="3"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4pPr>
            <a:lvl5pPr marL="0" marR="0" lvl="4"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5pPr>
            <a:lvl6pPr marL="0" marR="0" lvl="5"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6pPr>
            <a:lvl7pPr marL="0" marR="0" lvl="6"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7pPr>
            <a:lvl8pPr marL="0" marR="0" lvl="7"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8pPr>
            <a:lvl9pPr marL="0" marR="0" lvl="8"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hemanthredddy2003/prepwise-disaster-ed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320548" y="788191"/>
            <a:ext cx="11803117"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804030504040204"/>
              <a:buNone/>
            </a:pPr>
            <a:r>
              <a:rPr lang="en-US" altLang="en-US" sz="2500" dirty="0">
                <a:solidFill>
                  <a:schemeClr val="tx1"/>
                </a:solidFill>
                <a:latin typeface="Times New Roman" panose="02020503050405090304" pitchFamily="18" charset="0"/>
                <a:ea typeface="Cambria" panose="02040503050406030204" pitchFamily="18" charset="0"/>
                <a:cs typeface="Times New Roman" panose="02020503050405090304" pitchFamily="18" charset="0"/>
              </a:rPr>
              <a:t>Disaster Preparedness and Response Education System for Schools and Colleges</a:t>
            </a:r>
          </a:p>
        </p:txBody>
      </p:sp>
      <p:sp>
        <p:nvSpPr>
          <p:cNvPr id="88" name="Google Shape;88;p13"/>
          <p:cNvSpPr txBox="1">
            <a:spLocks noGrp="1"/>
          </p:cNvSpPr>
          <p:nvPr>
            <p:ph type="subTitle" idx="1"/>
          </p:nvPr>
        </p:nvSpPr>
        <p:spPr>
          <a:xfrm>
            <a:off x="790469" y="1956388"/>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Times New Roman" panose="02020503050405090304" pitchFamily="18" charset="0"/>
                <a:ea typeface="Cambria" panose="02040503050406030204" pitchFamily="18" charset="0"/>
                <a:cs typeface="Times New Roman" panose="02020503050405090304" pitchFamily="18" charset="0"/>
              </a:rPr>
              <a:t>Batch Number:</a:t>
            </a:r>
            <a:r>
              <a:rPr lang="en-US" altLang="en-GB" dirty="0">
                <a:latin typeface="Times New Roman" panose="02020503050405090304" pitchFamily="18" charset="0"/>
                <a:ea typeface="Cambria" panose="02040503050406030204" pitchFamily="18" charset="0"/>
                <a:cs typeface="Times New Roman" panose="02020503050405090304" pitchFamily="18" charset="0"/>
              </a:rPr>
              <a:t> </a:t>
            </a:r>
            <a:r>
              <a:rPr lang="en-US" altLang="en-GB" dirty="0">
                <a:solidFill>
                  <a:schemeClr val="tx1"/>
                </a:solidFill>
                <a:latin typeface="Times New Roman" panose="02020503050405090304" pitchFamily="18" charset="0"/>
                <a:ea typeface="Cambria" panose="02040503050406030204" pitchFamily="18" charset="0"/>
                <a:cs typeface="Times New Roman" panose="02020503050405090304" pitchFamily="18" charset="0"/>
              </a:rPr>
              <a:t>IST_6</a:t>
            </a:r>
          </a:p>
        </p:txBody>
      </p:sp>
      <p:sp>
        <p:nvSpPr>
          <p:cNvPr id="90" name="Google Shape;90;p13"/>
          <p:cNvSpPr txBox="1"/>
          <p:nvPr/>
        </p:nvSpPr>
        <p:spPr>
          <a:xfrm>
            <a:off x="6432180" y="2282870"/>
            <a:ext cx="5321215" cy="216968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9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Under the Supervision of,</a:t>
            </a:r>
          </a:p>
          <a:p>
            <a:pPr marL="0" marR="0" lvl="0" indent="0" algn="ctr" rtl="0">
              <a:spcBef>
                <a:spcPts val="400"/>
              </a:spcBef>
              <a:spcAft>
                <a:spcPts val="0"/>
              </a:spcAft>
              <a:buClr>
                <a:srgbClr val="17365D"/>
              </a:buClr>
              <a:buSzPts val="2000"/>
              <a:buFont typeface="Arial" panose="020B0604020202090204"/>
              <a:buNone/>
            </a:pPr>
            <a:r>
              <a:rPr lang="en-IN" sz="1800" b="1" dirty="0">
                <a:latin typeface="Cambria" panose="02040503050406030204" pitchFamily="18" charset="0"/>
                <a:ea typeface="Cambria" panose="02040503050406030204" pitchFamily="18" charset="0"/>
              </a:rPr>
              <a:t>Dr. Poornima S</a:t>
            </a:r>
            <a:endParaRPr lang="en-IN"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9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89" name="Google Shape;89;p13"/>
          <p:cNvGraphicFramePr/>
          <p:nvPr/>
        </p:nvGraphicFramePr>
        <p:xfrm>
          <a:off x="320548" y="2508688"/>
          <a:ext cx="5514340" cy="2025211"/>
        </p:xfrm>
        <a:graphic>
          <a:graphicData uri="http://schemas.openxmlformats.org/drawingml/2006/table">
            <a:tbl>
              <a:tblPr firstRow="1" bandRow="1">
                <a:noFill/>
                <a:tableStyleId>{57690726-49DA-4552-BDEB-330DD8EA8BD9}</a:tableStyleId>
              </a:tblPr>
              <a:tblGrid>
                <a:gridCol w="2315447">
                  <a:extLst>
                    <a:ext uri="{9D8B030D-6E8A-4147-A177-3AD203B41FA5}">
                      <a16:colId xmlns:a16="http://schemas.microsoft.com/office/drawing/2014/main" val="20000"/>
                    </a:ext>
                  </a:extLst>
                </a:gridCol>
                <a:gridCol w="3198893">
                  <a:extLst>
                    <a:ext uri="{9D8B030D-6E8A-4147-A177-3AD203B41FA5}">
                      <a16:colId xmlns:a16="http://schemas.microsoft.com/office/drawing/2014/main" val="20001"/>
                    </a:ext>
                  </a:extLst>
                </a:gridCol>
              </a:tblGrid>
              <a:tr h="426362">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26362">
                <a:tc>
                  <a:txBody>
                    <a:bodyPr/>
                    <a:lstStyle/>
                    <a:p>
                      <a:pPr marL="0" marR="0" lvl="0" indent="0" algn="ctr" rtl="0">
                        <a:spcBef>
                          <a:spcPts val="0"/>
                        </a:spcBef>
                        <a:spcAft>
                          <a:spcPts val="0"/>
                        </a:spcAft>
                        <a:buFont typeface="+mj-l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26362">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46125">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90204"/>
              <a:buNone/>
            </a:pP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CSE7</a:t>
            </a:r>
            <a:r>
              <a:rPr lang="en-US" alt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302</a:t>
            </a: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University</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Project</a:t>
            </a:r>
            <a:endParaRPr sz="20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90204"/>
              <a:buNone/>
            </a:pP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FINAL VIVA</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sp>
        <p:nvSpPr>
          <p:cNvPr id="8" name="Google Shape;91;p13"/>
          <p:cNvSpPr txBox="1"/>
          <p:nvPr/>
        </p:nvSpPr>
        <p:spPr>
          <a:xfrm>
            <a:off x="0" y="4533900"/>
            <a:ext cx="1233170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9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endParaRPr>
          </a:p>
          <a:p>
            <a:pPr marL="0" marR="0" lvl="0" indent="0" rtl="0">
              <a:spcBef>
                <a:spcPts val="0"/>
              </a:spcBef>
              <a:spcAft>
                <a:spcPts val="0"/>
              </a:spcAft>
              <a:buClr>
                <a:srgbClr val="17365D"/>
              </a:buClr>
              <a:buSzPct val="100000"/>
              <a:buFont typeface="Arial" panose="020B0604020202090204"/>
              <a:buNone/>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Dr.Pallavi R</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Ms. Benitha </a:t>
            </a:r>
            <a:r>
              <a:rPr lang="en-US" sz="1800" b="1"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Christinal</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3" name="Table 2"/>
          <p:cNvGraphicFramePr/>
          <p:nvPr/>
        </p:nvGraphicFramePr>
        <p:xfrm>
          <a:off x="242595" y="2508688"/>
          <a:ext cx="6036285" cy="1940506"/>
        </p:xfrm>
        <a:graphic>
          <a:graphicData uri="http://schemas.openxmlformats.org/drawingml/2006/table">
            <a:tbl>
              <a:tblPr firstRow="1" bandRow="1">
                <a:tableStyleId>{5C22544A-7EE6-4342-B048-85BDC9FD1C3A}</a:tableStyleId>
              </a:tblPr>
              <a:tblGrid>
                <a:gridCol w="2640875">
                  <a:extLst>
                    <a:ext uri="{9D8B030D-6E8A-4147-A177-3AD203B41FA5}">
                      <a16:colId xmlns:a16="http://schemas.microsoft.com/office/drawing/2014/main" val="20000"/>
                    </a:ext>
                  </a:extLst>
                </a:gridCol>
                <a:gridCol w="3395410">
                  <a:extLst>
                    <a:ext uri="{9D8B030D-6E8A-4147-A177-3AD203B41FA5}">
                      <a16:colId xmlns:a16="http://schemas.microsoft.com/office/drawing/2014/main" val="20001"/>
                    </a:ext>
                  </a:extLst>
                </a:gridCol>
              </a:tblGrid>
              <a:tr h="371555">
                <a:tc>
                  <a:txBody>
                    <a:bodyPr/>
                    <a:lstStyle/>
                    <a:p>
                      <a:pPr>
                        <a:buNone/>
                      </a:pPr>
                      <a:r>
                        <a:rPr lang="en-US" sz="1800" b="1" dirty="0">
                          <a:latin typeface="Cambria" panose="02040503050406030204" pitchFamily="18" charset="0"/>
                          <a:ea typeface="Cambria" panose="02040503050406030204" pitchFamily="18" charset="0"/>
                        </a:rPr>
                        <a:t>ROLL NUMBER</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NAME </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0"/>
                  </a:ext>
                </a:extLst>
              </a:tr>
              <a:tr h="371555">
                <a:tc>
                  <a:txBody>
                    <a:bodyPr/>
                    <a:lstStyle/>
                    <a:p>
                      <a:pPr>
                        <a:buNone/>
                      </a:pPr>
                      <a:r>
                        <a:rPr lang="en-US" sz="1800" b="1" dirty="0">
                          <a:latin typeface="Cambria" panose="02040503050406030204" pitchFamily="18" charset="0"/>
                          <a:ea typeface="Cambria" panose="02040503050406030204" pitchFamily="18" charset="0"/>
                        </a:rPr>
                        <a:t>20221IST0036</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VARSHA B</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1"/>
                  </a:ext>
                </a:extLst>
              </a:tr>
              <a:tr h="370816">
                <a:tc>
                  <a:txBody>
                    <a:bodyPr/>
                    <a:lstStyle/>
                    <a:p>
                      <a:pPr>
                        <a:buNone/>
                      </a:pPr>
                      <a:r>
                        <a:rPr lang="en-US" sz="1800" b="1" dirty="0">
                          <a:latin typeface="Cambria" panose="02040503050406030204" pitchFamily="18" charset="0"/>
                          <a:ea typeface="Cambria" panose="02040503050406030204" pitchFamily="18" charset="0"/>
                        </a:rPr>
                        <a:t>20221IST0034</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MOUNIKA.M</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2"/>
                  </a:ext>
                </a:extLst>
              </a:tr>
              <a:tr h="826580">
                <a:tc>
                  <a:txBody>
                    <a:bodyPr/>
                    <a:lstStyle/>
                    <a:p>
                      <a:pPr>
                        <a:buNone/>
                      </a:pPr>
                      <a:r>
                        <a:rPr lang="en-US" sz="1800" b="1" dirty="0">
                          <a:latin typeface="Cambria" panose="02040503050406030204" pitchFamily="18" charset="0"/>
                          <a:ea typeface="Cambria" panose="02040503050406030204" pitchFamily="18" charset="0"/>
                        </a:rPr>
                        <a:t>20221IST0007</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MALLAKALUVA HEMANTH REDDY</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804030504040204"/>
              <a:buNone/>
            </a:pPr>
            <a:r>
              <a:rPr lang="en-GB" dirty="0">
                <a:latin typeface="Times New Roman" panose="02020503050405090304" pitchFamily="18" charset="0"/>
                <a:ea typeface="Cambria" panose="02040503050406030204" pitchFamily="18" charset="0"/>
                <a:cs typeface="Times New Roman" panose="02020503050405090304" pitchFamily="18" charset="0"/>
              </a:rPr>
              <a:t>Problem Statement Number: </a:t>
            </a:r>
            <a:r>
              <a:rPr lang="en-US" altLang="en-US" dirty="0">
                <a:latin typeface="Times New Roman" panose="02020503050405090304" pitchFamily="18" charset="0"/>
                <a:ea typeface="Cambria" panose="02040503050406030204" pitchFamily="18" charset="0"/>
                <a:cs typeface="Times New Roman" panose="02020503050405090304" pitchFamily="18" charset="0"/>
              </a:rPr>
              <a:t>SIH25008</a:t>
            </a:r>
          </a:p>
        </p:txBody>
      </p:sp>
      <p:sp>
        <p:nvSpPr>
          <p:cNvPr id="97" name="Google Shape;97;p14"/>
          <p:cNvSpPr txBox="1">
            <a:spLocks noGrp="1"/>
          </p:cNvSpPr>
          <p:nvPr>
            <p:ph type="body" idx="1"/>
          </p:nvPr>
        </p:nvSpPr>
        <p:spPr>
          <a:xfrm>
            <a:off x="572655" y="997527"/>
            <a:ext cx="10908145" cy="5098474"/>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Organization:  </a:t>
            </a: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Government of Punjab</a:t>
            </a:r>
          </a:p>
          <a:p>
            <a:pPr marL="342900" lvl="0" indent="-190500" algn="just">
              <a:lnSpc>
                <a:spcPct val="200000"/>
              </a:lnSpc>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Category (Hardware / Software / Both) : </a:t>
            </a:r>
            <a:r>
              <a:rPr lang="en-US" sz="1800" dirty="0">
                <a:latin typeface="Times New Roman" panose="02020503050405090304" pitchFamily="18" charset="0"/>
                <a:ea typeface="Cambria" panose="02040503050406030204" pitchFamily="18" charset="0"/>
                <a:cs typeface="Times New Roman" panose="02020503050405090304" pitchFamily="18" charset="0"/>
              </a:rPr>
              <a:t>Software</a:t>
            </a:r>
          </a:p>
          <a:p>
            <a:pPr marL="342900" lvl="0" indent="-190500" algn="just">
              <a:lnSpc>
                <a:spcPct val="200000"/>
              </a:lnSpc>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Problem Description:</a:t>
            </a: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protocols.Furthermore, there’s a gap in localized awareness—many students are unaware of how to react during disasters specific to their region. Manual drills, where they occur, are infrequent and often poorly coordinated, failing to instill practical preparedness.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448" y="375596"/>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IN" dirty="0">
                <a:latin typeface="Times New Roman" panose="02020603050405020304" pitchFamily="18" charset="0"/>
                <a:cs typeface="Times New Roman" panose="02020603050405020304" pitchFamily="18" charset="0"/>
              </a:rPr>
              <a:t>Project Goals and Objectives</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873448" y="1068114"/>
            <a:ext cx="10668000" cy="4953000"/>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goal of this project is to create a comprehensive system that enhances disaster preparedness through interactive and data-driven methods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Provide structured learning modules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Enable simulation-based training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Offer real-time alerts and guidance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Track preparedness using analytics</a:t>
            </a:r>
          </a:p>
          <a:p>
            <a:pPr algn="l">
              <a:lnSpc>
                <a:spcPct val="150000"/>
              </a:lnSpc>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p:txBody>
      </p:sp>
      <p:sp>
        <p:nvSpPr>
          <p:cNvPr id="4" name="Text Box 3"/>
          <p:cNvSpPr txBox="1"/>
          <p:nvPr/>
        </p:nvSpPr>
        <p:spPr>
          <a:xfrm>
            <a:off x="2515235" y="4290060"/>
            <a:ext cx="4064000" cy="306705"/>
          </a:xfrm>
          <a:prstGeom prst="rect">
            <a:avLst/>
          </a:prstGeom>
          <a:noFill/>
        </p:spPr>
        <p:txBody>
          <a:bodyPr wrap="squar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27755"/>
            <a:ext cx="10668000" cy="487500"/>
          </a:xfrm>
        </p:spPr>
        <p:txBody>
          <a:bodyPr/>
          <a:lstStyle/>
          <a:p>
            <a:r>
              <a:rPr lang="en-IN" dirty="0">
                <a:latin typeface="Times New Roman" panose="02020603050405020304" pitchFamily="18" charset="0"/>
                <a:cs typeface="Times New Roman" panose="02020603050405020304" pitchFamily="18" charset="0"/>
              </a:rPr>
              <a:t>Overview of Current Practices</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571169" y="919478"/>
            <a:ext cx="10434734" cy="5471865"/>
          </a:xfrm>
        </p:spPr>
        <p:txBody>
          <a:bodyPr>
            <a:no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Currently, most institutions rely on traditional approaches such as lectures, seminars, and occasional drills to address disaster preparedness.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methods are not conducted regularly and often fail to engage students effectively.</a:t>
            </a:r>
          </a:p>
          <a:p>
            <a:pPr marL="76200" indent="0">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Additionally, there is no proper mechanism to evaluate the effectiveness of such training programs, which limits their overall impact on preparedness.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Moreover, these approaches are mostly theoretical and do not provide hands-on experience or real-time decision-making practice.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Students and staff are rarely exposed to realistic emergency scenarios, which reduces their confidence during actual disasters.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lack of digital tools and structured platforms further makes it difficult. As a result, preparedness remains superficial, highlighting the need for more interactive, practical, and technology-driven solutions.</a:t>
            </a:r>
          </a:p>
          <a:p>
            <a:pPr marL="76200" indent="0">
              <a:lnSpc>
                <a:spcPct val="150000"/>
              </a:lnSpc>
              <a:buNone/>
            </a:pPr>
            <a:endParaRPr lang="en-US" altLang="en-US" sz="1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35819" y="343464"/>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Times New Roman" panose="02020603050405020304" pitchFamily="18" charset="0"/>
                <a:cs typeface="Times New Roman" panose="02020603050405020304" pitchFamily="18" charset="0"/>
              </a:rPr>
              <a:t>Gaps in Existing Approaches</a:t>
            </a: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762000" y="952500"/>
            <a:ext cx="10668000" cy="4953000"/>
          </a:xfrm>
          <a:prstGeom prst="rect">
            <a:avLst/>
          </a:prstGeom>
          <a:noFill/>
          <a:ln>
            <a:noFill/>
          </a:ln>
        </p:spPr>
        <p:txBody>
          <a:bodyPr spcFirstLastPara="1" wrap="square" lIns="91425" tIns="45700" rIns="91425" bIns="45700" anchor="t" anchorCtr="0">
            <a:normAutofit lnSpcReduction="10000"/>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existing methods of disaster preparedness suffer from several limitations, including the lack of real-time guidance, absence of simulation-based learning, and no system for continuous monitoring.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gaps reduce the effectiveness of training programs and prevent institutions from accurately assessing the preparedness levels of students and staff, ultimately affecting their ability to respond efficiently during emergencies.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addition, traditional approaches are often irregular and not standardized, which leads to inconsistent learning outcomes across different institutions.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lack of interactive and engaging training methods also results in low student participation and poor knowledge retention.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Furthermore, there is minimal use of technology to track progress, analyze performance, or provide personalized feedback. These shortcomings highlight the need for a more structured, technology-driven, and continuously monitored disaster preparedness system.</a:t>
            </a:r>
          </a:p>
          <a:p>
            <a:pPr marL="342900" lvl="0" indent="-190500" algn="just" rtl="0">
              <a:lnSpc>
                <a:spcPct val="150000"/>
              </a:lnSpc>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Times New Roman" panose="02020603050405020304" pitchFamily="18" charset="0"/>
                <a:cs typeface="Times New Roman" panose="02020603050405020304" pitchFamily="18" charset="0"/>
              </a:rPr>
              <a:t>Proposed Solution – PREPWISE Platform</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address these challenges, the PREPWISE platform is proposed as a comprehensive digital solution for disaster preparedness. </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integrates interactive learning modules, virtual disaster simulations, real-time alert systems, and an AI-based chatbot to provide continuous guidance.</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also includes an analytics dashboard that helps institutions track participation and preparedness levels, ensuring a more effective and structured approach to disaster education.</a:t>
            </a:r>
          </a:p>
          <a:p>
            <a:pPr marL="342900" lvl="0" indent="-190500" algn="just" rtl="0">
              <a:lnSpc>
                <a:spcPct val="150000"/>
              </a:lnSpc>
              <a:spcBef>
                <a:spcPts val="0"/>
              </a:spcBef>
              <a:spcAft>
                <a:spcPts val="0"/>
              </a:spcAft>
              <a:buClr>
                <a:schemeClr val="dk1"/>
              </a:buClr>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51EC7144-DE61-6B76-D506-08C19847D762}"/>
              </a:ext>
            </a:extLst>
          </p:cNvPr>
          <p:cNvPicPr>
            <a:picLocks noChangeAspect="1"/>
          </p:cNvPicPr>
          <p:nvPr/>
        </p:nvPicPr>
        <p:blipFill>
          <a:blip r:embed="rId3"/>
          <a:stretch>
            <a:fillRect/>
          </a:stretch>
        </p:blipFill>
        <p:spPr>
          <a:xfrm>
            <a:off x="3226580" y="2976803"/>
            <a:ext cx="5632285" cy="29913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25987"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Times New Roman" panose="02020603050405020304" pitchFamily="18" charset="0"/>
                <a:cs typeface="Times New Roman" panose="02020603050405020304" pitchFamily="18" charset="0"/>
              </a:rPr>
              <a:t>System Design Overview</a:t>
            </a: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lang="en-IN"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4" name="TextBox 3">
            <a:extLst>
              <a:ext uri="{FF2B5EF4-FFF2-40B4-BE49-F238E27FC236}">
                <a16:creationId xmlns:a16="http://schemas.microsoft.com/office/drawing/2014/main" id="{213109BA-2549-A39F-3B63-47C70CD4A78F}"/>
              </a:ext>
            </a:extLst>
          </p:cNvPr>
          <p:cNvSpPr txBox="1"/>
          <p:nvPr/>
        </p:nvSpPr>
        <p:spPr>
          <a:xfrm>
            <a:off x="812800" y="998340"/>
            <a:ext cx="11190014" cy="6232475"/>
          </a:xfrm>
          <a:prstGeom prst="rect">
            <a:avLst/>
          </a:prstGeom>
          <a:noFill/>
        </p:spPr>
        <p:txBody>
          <a:bodyPr wrap="square">
            <a:spAutoFit/>
          </a:bodyPr>
          <a:lstStyle/>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architecture shows the overall flow of the PREPWISE platform. It starts with user registration and login, followed by secure authentication. After logging in, users access the disaster learning module to gain knowledge about safety and emergency procedures. </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They then participate in virtual drill simulations to practice real-life scenarios. The chatbot provides instant guidance and support whenever needed. User performance is evaluated through the preparedness evaluation system, and the results are monitored by administrators using the dashboard. Finally, all user data and performance records are securely stored in the data storage system for analysis and future use.</a:t>
            </a: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IN" sz="17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65BBCC9-D666-52E9-EDD1-46F35F179788}"/>
              </a:ext>
            </a:extLst>
          </p:cNvPr>
          <p:cNvPicPr>
            <a:picLocks noChangeAspect="1"/>
          </p:cNvPicPr>
          <p:nvPr/>
        </p:nvPicPr>
        <p:blipFill>
          <a:blip r:embed="rId3"/>
          <a:stretch>
            <a:fillRect/>
          </a:stretch>
        </p:blipFill>
        <p:spPr>
          <a:xfrm>
            <a:off x="4243694" y="3294020"/>
            <a:ext cx="5213130" cy="2879692"/>
          </a:xfrm>
          <a:prstGeom prst="rect">
            <a:avLst/>
          </a:prstGeom>
          <a:noFill/>
          <a:ln w="15875">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Core Functional Modules</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80720" y="952500"/>
            <a:ext cx="10668000" cy="4953000"/>
          </a:xfrm>
        </p:spPr>
        <p:txBody>
          <a:bodyPr/>
          <a:lstStyle/>
          <a:p>
            <a:pPr algn="just">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The platform consists of several integrated modules that work together to provide a complete disaster preparedness solution.</a:t>
            </a:r>
          </a:p>
          <a:p>
            <a:pPr algn="just">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The learning module delivers structured educational content, while the simulation module allows users to experience virtual disaster scenarios. </a:t>
            </a:r>
          </a:p>
          <a:p>
            <a:pPr algn="just">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The alert system provides real-time notifications, and the chatbot offers instant guidance. </a:t>
            </a:r>
          </a:p>
          <a:p>
            <a:pPr algn="just">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Additionally, the dashboard module enables administrators to monitor performance and preparedness levels.</a:t>
            </a:r>
          </a:p>
          <a:p>
            <a:pPr marL="76200" indent="0">
              <a:buFont typeface="Wingdings" panose="05000000000000000000" pitchFamily="2" charset="2"/>
              <a:buNone/>
            </a:pPr>
            <a:endParaRPr lang="en-US" altLang="en-US" sz="19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6200"/>
            <a:r>
              <a:rPr lang="en-US" altLang="en-US" dirty="0">
                <a:latin typeface="Times New Roman" panose="02020503050405090304" pitchFamily="18" charset="0"/>
                <a:cs typeface="Times New Roman" panose="02020503050405090304" pitchFamily="18" charset="0"/>
              </a:rPr>
              <a:t>Technology Stack</a:t>
            </a:r>
          </a:p>
        </p:txBody>
      </p:sp>
      <p:sp>
        <p:nvSpPr>
          <p:cNvPr id="3" name="Text Placeholder 2"/>
          <p:cNvSpPr>
            <a:spLocks noGrp="1"/>
          </p:cNvSpPr>
          <p:nvPr>
            <p:ph type="body" idx="1"/>
          </p:nvPr>
        </p:nvSpPr>
        <p:spPr>
          <a:xfrm>
            <a:off x="762000" y="952500"/>
            <a:ext cx="10668000" cy="4953000"/>
          </a:xfrm>
        </p:spPr>
        <p:txBody>
          <a:bodyPr>
            <a:normAutofit fontScale="92500" lnSpcReduction="10000"/>
          </a:bodyPr>
          <a:lstStyle/>
          <a:p>
            <a:pPr marL="76200" indent="0" algn="just">
              <a:buNone/>
            </a:pPr>
            <a:r>
              <a:rPr lang="en-US" sz="1800" b="1" dirty="0">
                <a:latin typeface="Times New Roman" panose="02020603050405020304" pitchFamily="18" charset="0"/>
                <a:cs typeface="Times New Roman" panose="02020603050405020304" pitchFamily="18" charset="0"/>
              </a:rPr>
              <a:t>Frontend Technologies</a:t>
            </a:r>
          </a:p>
          <a:p>
            <a:pPr marL="76200" indent="0" algn="just">
              <a:buNone/>
            </a:pPr>
            <a:endParaRPr lang="en-US" sz="18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React 18 with Vite</a:t>
            </a:r>
            <a:r>
              <a:rPr lang="en-US" sz="1800" dirty="0">
                <a:latin typeface="Times New Roman" panose="02020603050405020304" pitchFamily="18" charset="0"/>
                <a:cs typeface="Times New Roman" panose="02020603050405020304" pitchFamily="18" charset="0"/>
              </a:rPr>
              <a:t> is used to build a fast and responsive user interface with efficient rendering and development speed. </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React Router v6</a:t>
            </a:r>
            <a:r>
              <a:rPr lang="en-US" sz="1800" dirty="0">
                <a:latin typeface="Times New Roman" panose="02020603050405020304" pitchFamily="18" charset="0"/>
                <a:cs typeface="Times New Roman" panose="02020603050405020304" pitchFamily="18" charset="0"/>
              </a:rPr>
              <a:t> enables smooth navigation between different pages such as dashboard, alerts, and learning modules. </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Axios and Fetch API</a:t>
            </a:r>
            <a:r>
              <a:rPr lang="en-US" sz="1800" dirty="0">
                <a:latin typeface="Times New Roman" panose="02020603050405020304" pitchFamily="18" charset="0"/>
                <a:cs typeface="Times New Roman" panose="02020603050405020304" pitchFamily="18" charset="0"/>
              </a:rPr>
              <a:t> are used to handle communication between frontend and backend services through API requests. </a:t>
            </a:r>
          </a:p>
          <a:p>
            <a:pPr algn="just">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JsPDF</a:t>
            </a:r>
            <a:r>
              <a:rPr lang="en-US" sz="1800" dirty="0">
                <a:latin typeface="Times New Roman" panose="02020603050405020304" pitchFamily="18" charset="0"/>
                <a:cs typeface="Times New Roman" panose="02020603050405020304" pitchFamily="18" charset="0"/>
              </a:rPr>
              <a:t> is integrated to generate digital certificates for users after completing training modules and drills.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76200" indent="0" algn="just">
              <a:buNone/>
            </a:pPr>
            <a:r>
              <a:rPr lang="en-US" sz="1800" b="1" dirty="0">
                <a:latin typeface="Times New Roman" panose="02020603050405020304" pitchFamily="18" charset="0"/>
                <a:cs typeface="Times New Roman" panose="02020603050405020304" pitchFamily="18" charset="0"/>
              </a:rPr>
              <a:t>Backend Technologies</a:t>
            </a:r>
          </a:p>
          <a:p>
            <a:pPr marL="76200" indent="0" algn="just">
              <a:buNone/>
            </a:pPr>
            <a:endParaRPr lang="en-US" sz="18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Node.js with Express.js</a:t>
            </a:r>
            <a:r>
              <a:rPr lang="en-US" sz="1800" dirty="0">
                <a:latin typeface="Times New Roman" panose="02020603050405020304" pitchFamily="18" charset="0"/>
                <a:cs typeface="Times New Roman" panose="02020603050405020304" pitchFamily="18" charset="0"/>
              </a:rPr>
              <a:t> is used to develop the server-side logic and handle API requests efficiently. </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MySQL with </a:t>
            </a:r>
            <a:r>
              <a:rPr lang="en-US" sz="1800" b="1" dirty="0" err="1">
                <a:latin typeface="Times New Roman" panose="02020603050405020304" pitchFamily="18" charset="0"/>
                <a:cs typeface="Times New Roman" panose="02020603050405020304" pitchFamily="18" charset="0"/>
              </a:rPr>
              <a:t>Sequelize</a:t>
            </a:r>
            <a:r>
              <a:rPr lang="en-US" sz="1800" b="1" dirty="0">
                <a:latin typeface="Times New Roman" panose="02020603050405020304" pitchFamily="18" charset="0"/>
                <a:cs typeface="Times New Roman" panose="02020603050405020304" pitchFamily="18" charset="0"/>
              </a:rPr>
              <a:t> ORM</a:t>
            </a:r>
            <a:r>
              <a:rPr lang="en-US" sz="1800" dirty="0">
                <a:latin typeface="Times New Roman" panose="02020603050405020304" pitchFamily="18" charset="0"/>
                <a:cs typeface="Times New Roman" panose="02020603050405020304" pitchFamily="18" charset="0"/>
              </a:rPr>
              <a:t> manages structured data such as user records, performance scores, and system logs. </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MongoDB with Mongoose</a:t>
            </a:r>
            <a:r>
              <a:rPr lang="en-US" sz="1800" dirty="0">
                <a:latin typeface="Times New Roman" panose="02020603050405020304" pitchFamily="18" charset="0"/>
                <a:cs typeface="Times New Roman" panose="02020603050405020304" pitchFamily="18" charset="0"/>
              </a:rPr>
              <a:t> is used for handling flexible data such as chatbot interactions and dynamic content. </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JWT (JSON Web Token)</a:t>
            </a:r>
            <a:r>
              <a:rPr lang="en-US" sz="1800" dirty="0">
                <a:latin typeface="Times New Roman" panose="02020603050405020304" pitchFamily="18" charset="0"/>
                <a:cs typeface="Times New Roman" panose="02020603050405020304" pitchFamily="18" charset="0"/>
              </a:rPr>
              <a:t> is implemented for secure user authentication and session management. </a:t>
            </a:r>
          </a:p>
          <a:p>
            <a:pPr algn="just">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bcryptjs</a:t>
            </a:r>
            <a:r>
              <a:rPr lang="en-US" sz="1800" dirty="0">
                <a:latin typeface="Times New Roman" panose="02020603050405020304" pitchFamily="18" charset="0"/>
                <a:cs typeface="Times New Roman" panose="02020603050405020304" pitchFamily="18" charset="0"/>
              </a:rPr>
              <a:t> is used to securely hash user passwords and protect sensitive data.</a:t>
            </a:r>
          </a:p>
          <a:p>
            <a:pPr>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Times New Roman" panose="02020603050405020304" pitchFamily="18" charset="0"/>
                <a:cs typeface="Times New Roman" panose="02020603050405020304" pitchFamily="18" charset="0"/>
              </a:rPr>
              <a:t>Final Outcomes and Future Scope</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a:t>
            </a:r>
          </a:p>
          <a:p>
            <a:pPr marL="342900" lvl="0" indent="-190500" algn="just" rtl="0">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43858A01-7755-AF5D-F67A-69633B2FFA37}"/>
              </a:ext>
            </a:extLst>
          </p:cNvPr>
          <p:cNvSpPr txBox="1"/>
          <p:nvPr/>
        </p:nvSpPr>
        <p:spPr>
          <a:xfrm>
            <a:off x="1043245" y="957232"/>
            <a:ext cx="9907752" cy="5078313"/>
          </a:xfrm>
          <a:prstGeom prst="rect">
            <a:avLst/>
          </a:prstGeom>
          <a:noFill/>
        </p:spPr>
        <p:txBody>
          <a:bodyPr wrap="square">
            <a:spAutoFit/>
          </a:bodyPr>
          <a:lstStyle/>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proposed system successfully bridges the gap between theoretical knowledge and practical disaster preparedness. </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enhances awareness, improves confidence, and enables better decision-making during emergencies. By combining interactive learning with real-time guidance and performance analytics, the platform promotes continuous preparedness rather than occasional training. </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also supports institutions in monitoring readiness levels and identifying areas that require improvement, thereby strengthening overall campus safety and resilience.</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Future enhancements may include the integration of Artificial Intelligence and Machine Learning for predictive risk analysis and personalized training recommendations. </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Technologies such as Virtual Reality and Augmented Reality can be incorporated to create more immersive and realistic simulation experiences. </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Further improvements can also include multilingual support and advanced analytics to make the system more inclusive, scalable, and effective across diverse educational environments</a:t>
            </a:r>
            <a:r>
              <a:rPr lang="en-US" sz="17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1430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lnSpc>
                <a:spcPct val="100000"/>
              </a:lnSpc>
              <a:spcBef>
                <a:spcPts val="360"/>
              </a:spcBef>
              <a:spcAft>
                <a:spcPts val="0"/>
              </a:spcAft>
              <a:buClr>
                <a:schemeClr val="dk1"/>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lnSpc>
                <a:spcPct val="100000"/>
              </a:lnSpc>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lnSpc>
                <a:spcPct val="100000"/>
              </a:lnSpc>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90204"/>
              <a:buNone/>
            </a:pPr>
            <a:r>
              <a:rPr lang="en-US" altLang="en-US" b="1" dirty="0">
                <a:latin typeface="Times New Roman" panose="02020503050405090304" pitchFamily="18" charset="0"/>
                <a:ea typeface="Cambria" panose="02040503050406030204" pitchFamily="18" charset="0"/>
                <a:cs typeface="Times New Roman" panose="02020503050405090304" pitchFamily="18" charset="0"/>
              </a:rPr>
              <a:t>Repository Link:</a:t>
            </a:r>
          </a:p>
          <a:p>
            <a:pPr marL="342900" indent="-190500" algn="just">
              <a:spcBef>
                <a:spcPts val="0"/>
              </a:spcBef>
              <a:buSzPct val="100000"/>
              <a:buFont typeface="Arial" panose="020B0604020202090204"/>
              <a:buNone/>
            </a:pPr>
            <a:endParaRPr lang="en-US" altLang="en-US" b="1" dirty="0">
              <a:latin typeface="Times New Roman" panose="02020503050405090304" pitchFamily="18" charset="0"/>
              <a:ea typeface="Cambria" panose="02040503050406030204" pitchFamily="18" charset="0"/>
              <a:cs typeface="Times New Roman" panose="02020503050405090304" pitchFamily="18" charset="0"/>
            </a:endParaRPr>
          </a:p>
          <a:p>
            <a:pPr marL="342900" indent="-190500" algn="just">
              <a:spcBef>
                <a:spcPts val="0"/>
              </a:spcBef>
              <a:buSzPct val="100000"/>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hlinkClick r:id="rId3"/>
              </a:rPr>
              <a:t>https://github.com/hemanthredddy2003/prepwise-disaster-edu</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01E012-966A-927F-8466-D0FDF60B4B91}"/>
              </a:ext>
            </a:extLst>
          </p:cNvPr>
          <p:cNvPicPr>
            <a:picLocks noChangeAspect="1"/>
          </p:cNvPicPr>
          <p:nvPr/>
        </p:nvPicPr>
        <p:blipFill>
          <a:blip r:embed="rId4"/>
          <a:stretch>
            <a:fillRect/>
          </a:stretch>
        </p:blipFill>
        <p:spPr>
          <a:xfrm>
            <a:off x="2907116" y="2480553"/>
            <a:ext cx="5954781" cy="3385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1140</Words>
  <Application>Microsoft Office PowerPoint</Application>
  <PresentationFormat>Widescreen</PresentationFormat>
  <Paragraphs>129</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Disaster Preparedness and Response Education System for Schools and Colleges</vt:lpstr>
      <vt:lpstr>Problem Statement Number: SIH25008</vt:lpstr>
      <vt:lpstr> Project Goals and Objectives </vt:lpstr>
      <vt:lpstr>Overview of Current Practices</vt:lpstr>
      <vt:lpstr>Gaps in Existing Approaches</vt:lpstr>
      <vt:lpstr>Proposed Solution – PREPWISE Platform</vt:lpstr>
      <vt:lpstr>System Design Overview</vt:lpstr>
      <vt:lpstr>Core Functional Modules</vt:lpstr>
      <vt:lpstr>Technology Stack</vt:lpstr>
      <vt:lpstr>Final Outcomes and Future Scope</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VARSHA B</cp:lastModifiedBy>
  <cp:revision>52</cp:revision>
  <dcterms:created xsi:type="dcterms:W3CDTF">2026-01-16T06:56:34Z</dcterms:created>
  <dcterms:modified xsi:type="dcterms:W3CDTF">2026-04-23T11:12:42Z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DB97C8B86F65D97F5C655F69DCBFD11B_42</vt:lpwstr>
  </property>
  <property fmtid="{D5CDD505-2E9C-101B-9397-08002B2CF9AE}" pid="3" name="KSOProductBuildVer">
    <vt:lpwstr>1033-12.1.23153.23153</vt:lpwstr>
  </property>
</Properties>
</file>